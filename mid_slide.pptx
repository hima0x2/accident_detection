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panose="020B0604020202020204" charset="0"/>
      <p:regular r:id="rId18"/>
    </p:embeddedFont>
    <p:embeddedFont>
      <p:font typeface="Canva Sans Bold" panose="020B0604020202020204" charset="0"/>
      <p:regular r:id="rId19"/>
    </p:embeddedFont>
    <p:embeddedFont>
      <p:font typeface="DM Serif Display" panose="020F0502020204030204" pitchFamily="2" charset="0"/>
      <p:regular r:id="rId20"/>
    </p:embeddedFont>
    <p:embeddedFont>
      <p:font typeface="Kollektif" panose="020B0604020202020204" charset="0"/>
      <p:regular r:id="rId21"/>
    </p:embeddedFont>
    <p:embeddedFont>
      <p:font typeface="Kollektif Bold" panose="020B0604020202020204" charset="0"/>
      <p:regular r:id="rId22"/>
    </p:embeddedFont>
    <p:embeddedFont>
      <p:font typeface="League Spartan" panose="020B0604020202020204" charset="0"/>
      <p:regular r:id="rId23"/>
    </p:embeddedFont>
    <p:embeddedFont>
      <p:font typeface="Playfair Display" panose="020F0502020204030204"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8" d="100"/>
          <a:sy n="48" d="100"/>
        </p:scale>
        <p:origin x="1622"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3.sv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2" name="Freeform 2"/>
          <p:cNvSpPr/>
          <p:nvPr/>
        </p:nvSpPr>
        <p:spPr>
          <a:xfrm rot="5400000" flipV="1">
            <a:off x="8996924" y="-1810932"/>
            <a:ext cx="11205779" cy="10911627"/>
          </a:xfrm>
          <a:custGeom>
            <a:avLst/>
            <a:gdLst/>
            <a:ahLst/>
            <a:cxnLst/>
            <a:rect l="l" t="t" r="r" b="b"/>
            <a:pathLst>
              <a:path w="11205779" h="10911627">
                <a:moveTo>
                  <a:pt x="0" y="10911627"/>
                </a:moveTo>
                <a:lnTo>
                  <a:pt x="11205779" y="10911627"/>
                </a:lnTo>
                <a:lnTo>
                  <a:pt x="11205779" y="0"/>
                </a:lnTo>
                <a:lnTo>
                  <a:pt x="0" y="0"/>
                </a:lnTo>
                <a:lnTo>
                  <a:pt x="0" y="10911627"/>
                </a:lnTo>
                <a:close/>
              </a:path>
            </a:pathLst>
          </a:custGeom>
          <a:blipFill>
            <a:blip r:embed="rId2">
              <a:alphaModFix amt="69000"/>
              <a:extLst>
                <a:ext uri="{96DAC541-7B7A-43D3-8B79-37D633B846F1}">
                  <asvg:svgBlip xmlns:asvg="http://schemas.microsoft.com/office/drawing/2016/SVG/main" r:embed="rId3"/>
                </a:ext>
              </a:extLst>
            </a:blip>
            <a:stretch>
              <a:fillRect/>
            </a:stretch>
          </a:blipFill>
        </p:spPr>
        <p:txBody>
          <a:bodyPr/>
          <a:lstStyle/>
          <a:p>
            <a:endParaRPr lang="en-SG"/>
          </a:p>
        </p:txBody>
      </p:sp>
      <p:grpSp>
        <p:nvGrpSpPr>
          <p:cNvPr id="3" name="Group 3"/>
          <p:cNvGrpSpPr/>
          <p:nvPr/>
        </p:nvGrpSpPr>
        <p:grpSpPr>
          <a:xfrm rot="-1803481">
            <a:off x="-1558769" y="-2721739"/>
            <a:ext cx="7821074" cy="19539727"/>
            <a:chOff x="0" y="0"/>
            <a:chExt cx="2059871" cy="5146266"/>
          </a:xfrm>
        </p:grpSpPr>
        <p:sp>
          <p:nvSpPr>
            <p:cNvPr id="4" name="Freeform 4"/>
            <p:cNvSpPr/>
            <p:nvPr/>
          </p:nvSpPr>
          <p:spPr>
            <a:xfrm>
              <a:off x="0" y="0"/>
              <a:ext cx="2059872" cy="5146266"/>
            </a:xfrm>
            <a:custGeom>
              <a:avLst/>
              <a:gdLst/>
              <a:ahLst/>
              <a:cxnLst/>
              <a:rect l="l" t="t" r="r" b="b"/>
              <a:pathLst>
                <a:path w="2059872" h="5146266">
                  <a:moveTo>
                    <a:pt x="0" y="0"/>
                  </a:moveTo>
                  <a:lnTo>
                    <a:pt x="2059872" y="0"/>
                  </a:lnTo>
                  <a:lnTo>
                    <a:pt x="2059872" y="5146266"/>
                  </a:lnTo>
                  <a:lnTo>
                    <a:pt x="0" y="5146266"/>
                  </a:lnTo>
                  <a:close/>
                </a:path>
              </a:pathLst>
            </a:custGeom>
            <a:solidFill>
              <a:srgbClr val="0B1320"/>
            </a:solidFill>
          </p:spPr>
          <p:txBody>
            <a:bodyPr/>
            <a:lstStyle/>
            <a:p>
              <a:endParaRPr lang="en-SG"/>
            </a:p>
          </p:txBody>
        </p:sp>
        <p:sp>
          <p:nvSpPr>
            <p:cNvPr id="5" name="TextBox 5"/>
            <p:cNvSpPr txBox="1"/>
            <p:nvPr/>
          </p:nvSpPr>
          <p:spPr>
            <a:xfrm>
              <a:off x="0" y="-47625"/>
              <a:ext cx="2059871" cy="519389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425876">
            <a:off x="7248318" y="8786475"/>
            <a:ext cx="12022786" cy="2391367"/>
            <a:chOff x="0" y="0"/>
            <a:chExt cx="3166495" cy="629825"/>
          </a:xfrm>
        </p:grpSpPr>
        <p:sp>
          <p:nvSpPr>
            <p:cNvPr id="7" name="Freeform 7"/>
            <p:cNvSpPr/>
            <p:nvPr/>
          </p:nvSpPr>
          <p:spPr>
            <a:xfrm>
              <a:off x="0" y="0"/>
              <a:ext cx="3166495" cy="629825"/>
            </a:xfrm>
            <a:custGeom>
              <a:avLst/>
              <a:gdLst/>
              <a:ahLst/>
              <a:cxnLst/>
              <a:rect l="l" t="t" r="r" b="b"/>
              <a:pathLst>
                <a:path w="3166495" h="629825">
                  <a:moveTo>
                    <a:pt x="0" y="0"/>
                  </a:moveTo>
                  <a:lnTo>
                    <a:pt x="3166495" y="0"/>
                  </a:lnTo>
                  <a:lnTo>
                    <a:pt x="3166495" y="629825"/>
                  </a:lnTo>
                  <a:lnTo>
                    <a:pt x="0" y="629825"/>
                  </a:lnTo>
                  <a:close/>
                </a:path>
              </a:pathLst>
            </a:custGeom>
            <a:solidFill>
              <a:srgbClr val="497183"/>
            </a:solidFill>
          </p:spPr>
          <p:txBody>
            <a:bodyPr/>
            <a:lstStyle/>
            <a:p>
              <a:endParaRPr lang="en-SG"/>
            </a:p>
          </p:txBody>
        </p:sp>
        <p:sp>
          <p:nvSpPr>
            <p:cNvPr id="8" name="TextBox 8"/>
            <p:cNvSpPr txBox="1"/>
            <p:nvPr/>
          </p:nvSpPr>
          <p:spPr>
            <a:xfrm>
              <a:off x="0" y="-47625"/>
              <a:ext cx="3166495" cy="67745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289240" flipH="1">
            <a:off x="-2960106" y="-896765"/>
            <a:ext cx="6656198" cy="5258396"/>
          </a:xfrm>
          <a:custGeom>
            <a:avLst/>
            <a:gdLst/>
            <a:ahLst/>
            <a:cxnLst/>
            <a:rect l="l" t="t" r="r" b="b"/>
            <a:pathLst>
              <a:path w="6656198" h="5258396">
                <a:moveTo>
                  <a:pt x="6656198" y="0"/>
                </a:moveTo>
                <a:lnTo>
                  <a:pt x="0" y="0"/>
                </a:lnTo>
                <a:lnTo>
                  <a:pt x="0" y="5258397"/>
                </a:lnTo>
                <a:lnTo>
                  <a:pt x="6656198" y="5258397"/>
                </a:lnTo>
                <a:lnTo>
                  <a:pt x="6656198"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0" name="TextBox 10"/>
          <p:cNvSpPr txBox="1"/>
          <p:nvPr/>
        </p:nvSpPr>
        <p:spPr>
          <a:xfrm>
            <a:off x="2898575" y="4251208"/>
            <a:ext cx="14360725" cy="1559557"/>
          </a:xfrm>
          <a:prstGeom prst="rect">
            <a:avLst/>
          </a:prstGeom>
        </p:spPr>
        <p:txBody>
          <a:bodyPr lIns="0" tIns="0" rIns="0" bIns="0" rtlCol="0" anchor="t">
            <a:spAutoFit/>
          </a:bodyPr>
          <a:lstStyle/>
          <a:p>
            <a:pPr algn="r">
              <a:lnSpc>
                <a:spcPts val="12740"/>
              </a:lnSpc>
            </a:pPr>
            <a:r>
              <a:rPr lang="en-US" sz="9100" b="1">
                <a:solidFill>
                  <a:srgbClr val="0B1320"/>
                </a:solidFill>
                <a:latin typeface="League Spartan"/>
                <a:ea typeface="League Spartan"/>
                <a:cs typeface="League Spartan"/>
                <a:sym typeface="League Spartan"/>
              </a:rPr>
              <a:t>Accident Detection</a:t>
            </a:r>
          </a:p>
        </p:txBody>
      </p:sp>
      <p:sp>
        <p:nvSpPr>
          <p:cNvPr id="11" name="TextBox 11"/>
          <p:cNvSpPr txBox="1"/>
          <p:nvPr/>
        </p:nvSpPr>
        <p:spPr>
          <a:xfrm>
            <a:off x="6720886" y="5817407"/>
            <a:ext cx="9925276" cy="2104962"/>
          </a:xfrm>
          <a:prstGeom prst="rect">
            <a:avLst/>
          </a:prstGeom>
        </p:spPr>
        <p:txBody>
          <a:bodyPr lIns="0" tIns="0" rIns="0" bIns="0" rtlCol="0" anchor="t">
            <a:spAutoFit/>
          </a:bodyPr>
          <a:lstStyle/>
          <a:p>
            <a:pPr algn="r">
              <a:lnSpc>
                <a:spcPts val="8403"/>
              </a:lnSpc>
            </a:pPr>
            <a:r>
              <a:rPr lang="en-US" sz="6002" spc="852">
                <a:solidFill>
                  <a:srgbClr val="1C3F60"/>
                </a:solidFill>
                <a:latin typeface="Kollektif"/>
                <a:ea typeface="Kollektif"/>
                <a:cs typeface="Kollektif"/>
                <a:sym typeface="Kollektif"/>
              </a:rPr>
              <a:t>Using YOLOV8 and two-stream CNN</a:t>
            </a:r>
          </a:p>
        </p:txBody>
      </p:sp>
      <p:sp>
        <p:nvSpPr>
          <p:cNvPr id="12" name="AutoShape 12"/>
          <p:cNvSpPr/>
          <p:nvPr/>
        </p:nvSpPr>
        <p:spPr>
          <a:xfrm rot="-7200000">
            <a:off x="5919627" y="8708126"/>
            <a:ext cx="3877602" cy="0"/>
          </a:xfrm>
          <a:prstGeom prst="line">
            <a:avLst/>
          </a:prstGeom>
          <a:ln w="38100" cap="flat">
            <a:solidFill>
              <a:srgbClr val="F3F6FA"/>
            </a:solidFill>
            <a:prstDash val="solid"/>
            <a:headEnd type="none" w="sm" len="sm"/>
            <a:tailEnd type="none" w="sm" len="sm"/>
          </a:ln>
        </p:spPr>
        <p:txBody>
          <a:bodyPr/>
          <a:lstStyle/>
          <a:p>
            <a:endParaRPr lang="en-SG"/>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2" name="Freeform 2"/>
          <p:cNvSpPr/>
          <p:nvPr/>
        </p:nvSpPr>
        <p:spPr>
          <a:xfrm rot="5400000" flipH="1">
            <a:off x="-2623119" y="-2629198"/>
            <a:ext cx="6656198" cy="5258396"/>
          </a:xfrm>
          <a:custGeom>
            <a:avLst/>
            <a:gdLst/>
            <a:ahLst/>
            <a:cxnLst/>
            <a:rect l="l" t="t" r="r" b="b"/>
            <a:pathLst>
              <a:path w="6656198" h="5258396">
                <a:moveTo>
                  <a:pt x="6656198" y="0"/>
                </a:moveTo>
                <a:lnTo>
                  <a:pt x="0" y="0"/>
                </a:lnTo>
                <a:lnTo>
                  <a:pt x="0" y="5258396"/>
                </a:lnTo>
                <a:lnTo>
                  <a:pt x="6656198" y="5258396"/>
                </a:lnTo>
                <a:lnTo>
                  <a:pt x="6656198" y="0"/>
                </a:lnTo>
                <a:close/>
              </a:path>
            </a:pathLst>
          </a:custGeom>
          <a:blipFill>
            <a:blip r:embed="rId2">
              <a:alphaModFix amt="23000"/>
              <a:extLst>
                <a:ext uri="{96DAC541-7B7A-43D3-8B79-37D633B846F1}">
                  <asvg:svgBlip xmlns:asvg="http://schemas.microsoft.com/office/drawing/2016/SVG/main" r:embed="rId3"/>
                </a:ext>
              </a:extLst>
            </a:blip>
            <a:stretch>
              <a:fillRect/>
            </a:stretch>
          </a:blipFill>
        </p:spPr>
        <p:txBody>
          <a:bodyPr/>
          <a:lstStyle/>
          <a:p>
            <a:endParaRPr lang="en-SG"/>
          </a:p>
        </p:txBody>
      </p:sp>
      <p:sp>
        <p:nvSpPr>
          <p:cNvPr id="3" name="TextBox 3"/>
          <p:cNvSpPr txBox="1"/>
          <p:nvPr/>
        </p:nvSpPr>
        <p:spPr>
          <a:xfrm>
            <a:off x="1257300" y="2513438"/>
            <a:ext cx="14574933" cy="6480812"/>
          </a:xfrm>
          <a:prstGeom prst="rect">
            <a:avLst/>
          </a:prstGeom>
        </p:spPr>
        <p:txBody>
          <a:bodyPr lIns="0" tIns="0" rIns="0" bIns="0" rtlCol="0" anchor="t">
            <a:spAutoFit/>
          </a:bodyPr>
          <a:lstStyle/>
          <a:p>
            <a:pPr algn="l">
              <a:lnSpc>
                <a:spcPts val="4281"/>
              </a:lnSpc>
            </a:pPr>
            <a:r>
              <a:rPr lang="en-US" sz="2405" b="1">
                <a:solidFill>
                  <a:srgbClr val="1C3F60"/>
                </a:solidFill>
                <a:latin typeface="Kollektif Bold"/>
                <a:ea typeface="Kollektif Bold"/>
                <a:cs typeface="Kollektif Bold"/>
                <a:sym typeface="Kollektif Bold"/>
              </a:rPr>
              <a:t>Road accidents are a major problem in Bangladesh, with thousands of people losing their lives and many more suffering serious injuries every year. road accidents caused over 105,000 deaths and 149,000 injuries from 2014 to 2024, with women and children notably affected. For solving this issue have existing some features. Traditional methods of accident detection in real-time are slow and often inaccurate, which delays responses and exacerbates the impact of accidents. This research Proposed Accident detection using YOLOV8 and Two-stream CNN algorithms to mitigate</a:t>
            </a:r>
          </a:p>
          <a:p>
            <a:pPr algn="l">
              <a:lnSpc>
                <a:spcPts val="4281"/>
              </a:lnSpc>
            </a:pPr>
            <a:r>
              <a:rPr lang="en-US" sz="2405" b="1">
                <a:solidFill>
                  <a:srgbClr val="1C3F60"/>
                </a:solidFill>
                <a:latin typeface="Kollektif Bold"/>
                <a:ea typeface="Kollektif Bold"/>
                <a:cs typeface="Kollektif Bold"/>
                <a:sym typeface="Kollektif Bold"/>
              </a:rPr>
              <a:t> the gap.</a:t>
            </a:r>
          </a:p>
          <a:p>
            <a:pPr algn="l">
              <a:lnSpc>
                <a:spcPts val="4281"/>
              </a:lnSpc>
            </a:pPr>
            <a:r>
              <a:rPr lang="en-US" sz="2405" b="1">
                <a:solidFill>
                  <a:srgbClr val="1C3F60"/>
                </a:solidFill>
                <a:latin typeface="Kollektif Bold"/>
                <a:ea typeface="Kollektif Bold"/>
                <a:cs typeface="Kollektif Bold"/>
                <a:sym typeface="Kollektif Bold"/>
              </a:rPr>
              <a:t>To solve this problem, I proposed and approach of this paper:</a:t>
            </a:r>
          </a:p>
          <a:p>
            <a:pPr marL="1038542" lvl="2" indent="-346181" algn="l">
              <a:lnSpc>
                <a:spcPts val="4281"/>
              </a:lnSpc>
              <a:buFont typeface="Arial"/>
              <a:buChar char="⚬"/>
            </a:pPr>
            <a:r>
              <a:rPr lang="en-US" sz="2405" b="1">
                <a:solidFill>
                  <a:srgbClr val="1C3F60"/>
                </a:solidFill>
                <a:latin typeface="Kollektif Bold"/>
                <a:ea typeface="Kollektif Bold"/>
                <a:cs typeface="Kollektif Bold"/>
                <a:sym typeface="Kollektif Bold"/>
              </a:rPr>
              <a:t>To develop an efficient system for detecting accidents in real-time using </a:t>
            </a:r>
          </a:p>
          <a:p>
            <a:pPr algn="l">
              <a:lnSpc>
                <a:spcPts val="4281"/>
              </a:lnSpc>
            </a:pPr>
            <a:r>
              <a:rPr lang="en-US" sz="2405" b="1">
                <a:solidFill>
                  <a:srgbClr val="1C3F60"/>
                </a:solidFill>
                <a:latin typeface="Kollektif Bold"/>
                <a:ea typeface="Kollektif Bold"/>
                <a:cs typeface="Kollektif Bold"/>
                <a:sym typeface="Kollektif Bold"/>
              </a:rPr>
              <a:t>                YOLOv8 and Two-Stream CNN </a:t>
            </a:r>
          </a:p>
          <a:p>
            <a:pPr marL="1038542" lvl="2" indent="-346181" algn="l">
              <a:lnSpc>
                <a:spcPts val="4281"/>
              </a:lnSpc>
              <a:buFont typeface="Arial"/>
              <a:buChar char="⚬"/>
            </a:pPr>
            <a:r>
              <a:rPr lang="en-US" sz="2405" b="1">
                <a:solidFill>
                  <a:srgbClr val="1C3F60"/>
                </a:solidFill>
                <a:latin typeface="Kollektif Bold"/>
                <a:ea typeface="Kollektif Bold"/>
                <a:cs typeface="Kollektif Bold"/>
                <a:sym typeface="Kollektif Bold"/>
              </a:rPr>
              <a:t>Applies Biliterial filtering for noise removal</a:t>
            </a:r>
          </a:p>
          <a:p>
            <a:pPr algn="l">
              <a:lnSpc>
                <a:spcPts val="4281"/>
              </a:lnSpc>
            </a:pPr>
            <a:endParaRPr lang="en-US" sz="2405" b="1">
              <a:solidFill>
                <a:srgbClr val="1C3F60"/>
              </a:solidFill>
              <a:latin typeface="Kollektif Bold"/>
              <a:ea typeface="Kollektif Bold"/>
              <a:cs typeface="Kollektif Bold"/>
              <a:sym typeface="Kollektif Bold"/>
            </a:endParaRPr>
          </a:p>
        </p:txBody>
      </p:sp>
      <p:grpSp>
        <p:nvGrpSpPr>
          <p:cNvPr id="4" name="Group 4"/>
          <p:cNvGrpSpPr/>
          <p:nvPr/>
        </p:nvGrpSpPr>
        <p:grpSpPr>
          <a:xfrm rot="-6078968">
            <a:off x="7178993" y="5215803"/>
            <a:ext cx="1786066" cy="9943550"/>
            <a:chOff x="0" y="0"/>
            <a:chExt cx="470404" cy="2618877"/>
          </a:xfrm>
        </p:grpSpPr>
        <p:sp>
          <p:nvSpPr>
            <p:cNvPr id="5" name="Freeform 5"/>
            <p:cNvSpPr/>
            <p:nvPr/>
          </p:nvSpPr>
          <p:spPr>
            <a:xfrm>
              <a:off x="0" y="0"/>
              <a:ext cx="470404" cy="2618877"/>
            </a:xfrm>
            <a:custGeom>
              <a:avLst/>
              <a:gdLst/>
              <a:ahLst/>
              <a:cxnLst/>
              <a:rect l="l" t="t" r="r" b="b"/>
              <a:pathLst>
                <a:path w="470404" h="2618877">
                  <a:moveTo>
                    <a:pt x="0" y="0"/>
                  </a:moveTo>
                  <a:lnTo>
                    <a:pt x="470404" y="0"/>
                  </a:lnTo>
                  <a:lnTo>
                    <a:pt x="470404" y="2618877"/>
                  </a:lnTo>
                  <a:lnTo>
                    <a:pt x="0" y="2618877"/>
                  </a:lnTo>
                  <a:close/>
                </a:path>
              </a:pathLst>
            </a:custGeom>
            <a:solidFill>
              <a:srgbClr val="497183"/>
            </a:solidFill>
          </p:spPr>
          <p:txBody>
            <a:bodyPr/>
            <a:lstStyle/>
            <a:p>
              <a:endParaRPr lang="en-SG"/>
            </a:p>
          </p:txBody>
        </p:sp>
        <p:sp>
          <p:nvSpPr>
            <p:cNvPr id="6" name="TextBox 6"/>
            <p:cNvSpPr txBox="1"/>
            <p:nvPr/>
          </p:nvSpPr>
          <p:spPr>
            <a:xfrm>
              <a:off x="0" y="-47625"/>
              <a:ext cx="470404" cy="266650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2655168">
            <a:off x="10748738" y="3765982"/>
            <a:ext cx="15424018" cy="5568147"/>
            <a:chOff x="0" y="0"/>
            <a:chExt cx="4062293" cy="1466508"/>
          </a:xfrm>
        </p:grpSpPr>
        <p:sp>
          <p:nvSpPr>
            <p:cNvPr id="8" name="Freeform 8"/>
            <p:cNvSpPr/>
            <p:nvPr/>
          </p:nvSpPr>
          <p:spPr>
            <a:xfrm>
              <a:off x="0" y="0"/>
              <a:ext cx="4062293" cy="1466508"/>
            </a:xfrm>
            <a:custGeom>
              <a:avLst/>
              <a:gdLst/>
              <a:ahLst/>
              <a:cxnLst/>
              <a:rect l="l" t="t" r="r" b="b"/>
              <a:pathLst>
                <a:path w="4062293" h="1466508">
                  <a:moveTo>
                    <a:pt x="0" y="0"/>
                  </a:moveTo>
                  <a:lnTo>
                    <a:pt x="4062293" y="0"/>
                  </a:lnTo>
                  <a:lnTo>
                    <a:pt x="4062293" y="1466508"/>
                  </a:lnTo>
                  <a:lnTo>
                    <a:pt x="0" y="1466508"/>
                  </a:lnTo>
                  <a:close/>
                </a:path>
              </a:pathLst>
            </a:custGeom>
            <a:solidFill>
              <a:srgbClr val="0B1320"/>
            </a:solidFill>
          </p:spPr>
          <p:txBody>
            <a:bodyPr/>
            <a:lstStyle/>
            <a:p>
              <a:endParaRPr lang="en-SG"/>
            </a:p>
          </p:txBody>
        </p:sp>
        <p:sp>
          <p:nvSpPr>
            <p:cNvPr id="9" name="TextBox 9"/>
            <p:cNvSpPr txBox="1"/>
            <p:nvPr/>
          </p:nvSpPr>
          <p:spPr>
            <a:xfrm>
              <a:off x="0" y="-47625"/>
              <a:ext cx="4062293" cy="1514133"/>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5400000" flipV="1">
            <a:off x="9809782" y="-2505940"/>
            <a:ext cx="10071804" cy="9807419"/>
          </a:xfrm>
          <a:custGeom>
            <a:avLst/>
            <a:gdLst/>
            <a:ahLst/>
            <a:cxnLst/>
            <a:rect l="l" t="t" r="r" b="b"/>
            <a:pathLst>
              <a:path w="10071804" h="9807419">
                <a:moveTo>
                  <a:pt x="0" y="9807419"/>
                </a:moveTo>
                <a:lnTo>
                  <a:pt x="10071804" y="9807419"/>
                </a:lnTo>
                <a:lnTo>
                  <a:pt x="10071804" y="0"/>
                </a:lnTo>
                <a:lnTo>
                  <a:pt x="0" y="0"/>
                </a:lnTo>
                <a:lnTo>
                  <a:pt x="0" y="9807419"/>
                </a:lnTo>
                <a:close/>
              </a:path>
            </a:pathLst>
          </a:custGeom>
          <a:blipFill>
            <a:blip r:embed="rId4">
              <a:alphaModFix amt="65999"/>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1" name="TextBox 11"/>
          <p:cNvSpPr txBox="1"/>
          <p:nvPr/>
        </p:nvSpPr>
        <p:spPr>
          <a:xfrm>
            <a:off x="1028700" y="695325"/>
            <a:ext cx="7237570" cy="1409821"/>
          </a:xfrm>
          <a:prstGeom prst="rect">
            <a:avLst/>
          </a:prstGeom>
        </p:spPr>
        <p:txBody>
          <a:bodyPr lIns="0" tIns="0" rIns="0" bIns="0" rtlCol="0" anchor="t">
            <a:spAutoFit/>
          </a:bodyPr>
          <a:lstStyle/>
          <a:p>
            <a:pPr algn="l">
              <a:lnSpc>
                <a:spcPts val="11536"/>
              </a:lnSpc>
            </a:pPr>
            <a:r>
              <a:rPr lang="en-US" sz="8240" b="1">
                <a:solidFill>
                  <a:srgbClr val="0B1320"/>
                </a:solidFill>
                <a:latin typeface="League Spartan"/>
                <a:ea typeface="League Spartan"/>
                <a:cs typeface="League Spartan"/>
                <a:sym typeface="League Spartan"/>
              </a:rPr>
              <a:t>Abstract</a:t>
            </a:r>
          </a:p>
        </p:txBody>
      </p:sp>
      <p:sp>
        <p:nvSpPr>
          <p:cNvPr id="12" name="TextBox 12"/>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25-02-2025</a:t>
            </a:r>
          </a:p>
        </p:txBody>
      </p:sp>
      <p:sp>
        <p:nvSpPr>
          <p:cNvPr id="13" name="AutoShape 13"/>
          <p:cNvSpPr/>
          <p:nvPr/>
        </p:nvSpPr>
        <p:spPr>
          <a:xfrm rot="-10402021">
            <a:off x="8874479" y="9297528"/>
            <a:ext cx="9975266" cy="0"/>
          </a:xfrm>
          <a:prstGeom prst="line">
            <a:avLst/>
          </a:prstGeom>
          <a:ln w="38100" cap="flat">
            <a:solidFill>
              <a:srgbClr val="F3F6FA"/>
            </a:solidFill>
            <a:prstDash val="solid"/>
            <a:headEnd type="none" w="sm" len="sm"/>
            <a:tailEnd type="none" w="sm" len="sm"/>
          </a:ln>
        </p:spPr>
        <p:txBody>
          <a:bodyPr/>
          <a:lstStyle/>
          <a:p>
            <a:endParaRPr lang="en-SG"/>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2" name="Freeform 2"/>
          <p:cNvSpPr/>
          <p:nvPr/>
        </p:nvSpPr>
        <p:spPr>
          <a:xfrm rot="5400000">
            <a:off x="-439437" y="-2968934"/>
            <a:ext cx="6922219" cy="10911627"/>
          </a:xfrm>
          <a:custGeom>
            <a:avLst/>
            <a:gdLst/>
            <a:ahLst/>
            <a:cxnLst/>
            <a:rect l="l" t="t" r="r" b="b"/>
            <a:pathLst>
              <a:path w="6922219" h="10911627">
                <a:moveTo>
                  <a:pt x="0" y="0"/>
                </a:moveTo>
                <a:lnTo>
                  <a:pt x="6922219" y="0"/>
                </a:lnTo>
                <a:lnTo>
                  <a:pt x="6922219" y="10911627"/>
                </a:lnTo>
                <a:lnTo>
                  <a:pt x="0" y="10911627"/>
                </a:lnTo>
                <a:lnTo>
                  <a:pt x="0" y="0"/>
                </a:lnTo>
                <a:close/>
              </a:path>
            </a:pathLst>
          </a:custGeom>
          <a:blipFill>
            <a:blip r:embed="rId2">
              <a:extLst>
                <a:ext uri="{96DAC541-7B7A-43D3-8B79-37D633B846F1}">
                  <asvg:svgBlip xmlns:asvg="http://schemas.microsoft.com/office/drawing/2016/SVG/main" r:embed="rId3"/>
                </a:ext>
              </a:extLst>
            </a:blip>
            <a:stretch>
              <a:fillRect r="-61881"/>
            </a:stretch>
          </a:blipFill>
        </p:spPr>
        <p:txBody>
          <a:bodyPr/>
          <a:lstStyle/>
          <a:p>
            <a:endParaRPr lang="en-SG"/>
          </a:p>
        </p:txBody>
      </p:sp>
      <p:grpSp>
        <p:nvGrpSpPr>
          <p:cNvPr id="3" name="Group 3"/>
          <p:cNvGrpSpPr/>
          <p:nvPr/>
        </p:nvGrpSpPr>
        <p:grpSpPr>
          <a:xfrm rot="-1751933">
            <a:off x="179230" y="2590504"/>
            <a:ext cx="20414930" cy="11270142"/>
            <a:chOff x="0" y="0"/>
            <a:chExt cx="5376772" cy="2968268"/>
          </a:xfrm>
        </p:grpSpPr>
        <p:sp>
          <p:nvSpPr>
            <p:cNvPr id="4" name="Freeform 4"/>
            <p:cNvSpPr/>
            <p:nvPr/>
          </p:nvSpPr>
          <p:spPr>
            <a:xfrm>
              <a:off x="0" y="0"/>
              <a:ext cx="5376772" cy="2968268"/>
            </a:xfrm>
            <a:custGeom>
              <a:avLst/>
              <a:gdLst/>
              <a:ahLst/>
              <a:cxnLst/>
              <a:rect l="l" t="t" r="r" b="b"/>
              <a:pathLst>
                <a:path w="5376772" h="2968268">
                  <a:moveTo>
                    <a:pt x="0" y="0"/>
                  </a:moveTo>
                  <a:lnTo>
                    <a:pt x="5376772" y="0"/>
                  </a:lnTo>
                  <a:lnTo>
                    <a:pt x="5376772" y="2968268"/>
                  </a:lnTo>
                  <a:lnTo>
                    <a:pt x="0" y="2968268"/>
                  </a:lnTo>
                  <a:close/>
                </a:path>
              </a:pathLst>
            </a:custGeom>
            <a:solidFill>
              <a:srgbClr val="0B1320"/>
            </a:solidFill>
          </p:spPr>
          <p:txBody>
            <a:bodyPr/>
            <a:lstStyle/>
            <a:p>
              <a:endParaRPr lang="en-SG"/>
            </a:p>
          </p:txBody>
        </p:sp>
        <p:sp>
          <p:nvSpPr>
            <p:cNvPr id="5" name="TextBox 5"/>
            <p:cNvSpPr txBox="1"/>
            <p:nvPr/>
          </p:nvSpPr>
          <p:spPr>
            <a:xfrm>
              <a:off x="0" y="-47625"/>
              <a:ext cx="5376772" cy="3015893"/>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1028700" y="1369120"/>
            <a:ext cx="7448786" cy="2867278"/>
          </a:xfrm>
          <a:prstGeom prst="rect">
            <a:avLst/>
          </a:prstGeom>
        </p:spPr>
        <p:txBody>
          <a:bodyPr lIns="0" tIns="0" rIns="0" bIns="0" rtlCol="0" anchor="t">
            <a:spAutoFit/>
          </a:bodyPr>
          <a:lstStyle/>
          <a:p>
            <a:pPr algn="l">
              <a:lnSpc>
                <a:spcPts val="11536"/>
              </a:lnSpc>
            </a:pPr>
            <a:r>
              <a:rPr lang="en-US" sz="8240" b="1">
                <a:solidFill>
                  <a:srgbClr val="0B1320"/>
                </a:solidFill>
                <a:latin typeface="League Spartan"/>
                <a:ea typeface="League Spartan"/>
                <a:cs typeface="League Spartan"/>
                <a:sym typeface="League Spartan"/>
              </a:rPr>
              <a:t>Content Overview</a:t>
            </a:r>
          </a:p>
        </p:txBody>
      </p:sp>
      <p:sp>
        <p:nvSpPr>
          <p:cNvPr id="7" name="TextBox 7"/>
          <p:cNvSpPr txBox="1"/>
          <p:nvPr/>
        </p:nvSpPr>
        <p:spPr>
          <a:xfrm>
            <a:off x="6444188" y="4709276"/>
            <a:ext cx="5342985" cy="2677451"/>
          </a:xfrm>
          <a:prstGeom prst="rect">
            <a:avLst/>
          </a:prstGeom>
        </p:spPr>
        <p:txBody>
          <a:bodyPr lIns="0" tIns="0" rIns="0" bIns="0" rtlCol="0" anchor="t">
            <a:spAutoFit/>
          </a:bodyPr>
          <a:lstStyle/>
          <a:p>
            <a:pPr marL="750469" lvl="1" indent="-375234" algn="l">
              <a:lnSpc>
                <a:spcPts val="5387"/>
              </a:lnSpc>
              <a:buFont typeface="Arial"/>
              <a:buChar char="•"/>
            </a:pPr>
            <a:r>
              <a:rPr lang="en-US" sz="3476">
                <a:solidFill>
                  <a:srgbClr val="FFFFFF"/>
                </a:solidFill>
                <a:latin typeface="Kollektif"/>
                <a:ea typeface="Kollektif"/>
                <a:cs typeface="Kollektif"/>
                <a:sym typeface="Kollektif"/>
              </a:rPr>
              <a:t>Introduction</a:t>
            </a:r>
          </a:p>
          <a:p>
            <a:pPr marL="750469" lvl="1" indent="-375234" algn="l">
              <a:lnSpc>
                <a:spcPts val="5387"/>
              </a:lnSpc>
              <a:buFont typeface="Arial"/>
              <a:buChar char="•"/>
            </a:pPr>
            <a:r>
              <a:rPr lang="en-US" sz="3476">
                <a:solidFill>
                  <a:srgbClr val="FFFFFF"/>
                </a:solidFill>
                <a:latin typeface="Kollektif"/>
                <a:ea typeface="Kollektif"/>
                <a:cs typeface="Kollektif"/>
                <a:sym typeface="Kollektif"/>
              </a:rPr>
              <a:t>Background Study</a:t>
            </a:r>
          </a:p>
          <a:p>
            <a:pPr marL="750469" lvl="1" indent="-375234" algn="l">
              <a:lnSpc>
                <a:spcPts val="5387"/>
              </a:lnSpc>
              <a:buFont typeface="Arial"/>
              <a:buChar char="•"/>
            </a:pPr>
            <a:r>
              <a:rPr lang="en-US" sz="3476">
                <a:solidFill>
                  <a:srgbClr val="FFFFFF"/>
                </a:solidFill>
                <a:latin typeface="Kollektif"/>
                <a:ea typeface="Kollektif"/>
                <a:cs typeface="Kollektif"/>
                <a:sym typeface="Kollektif"/>
              </a:rPr>
              <a:t>Literary Review</a:t>
            </a:r>
          </a:p>
          <a:p>
            <a:pPr algn="l">
              <a:lnSpc>
                <a:spcPts val="5387"/>
              </a:lnSpc>
            </a:pPr>
            <a:endParaRPr lang="en-US" sz="3476">
              <a:solidFill>
                <a:srgbClr val="FFFFFF"/>
              </a:solidFill>
              <a:latin typeface="Kollektif"/>
              <a:ea typeface="Kollektif"/>
              <a:cs typeface="Kollektif"/>
              <a:sym typeface="Kollektif"/>
            </a:endParaRPr>
          </a:p>
        </p:txBody>
      </p:sp>
      <p:sp>
        <p:nvSpPr>
          <p:cNvPr id="8" name="TextBox 8"/>
          <p:cNvSpPr txBox="1"/>
          <p:nvPr/>
        </p:nvSpPr>
        <p:spPr>
          <a:xfrm>
            <a:off x="12458440" y="4709276"/>
            <a:ext cx="5608874" cy="2677451"/>
          </a:xfrm>
          <a:prstGeom prst="rect">
            <a:avLst/>
          </a:prstGeom>
        </p:spPr>
        <p:txBody>
          <a:bodyPr lIns="0" tIns="0" rIns="0" bIns="0" rtlCol="0" anchor="t">
            <a:spAutoFit/>
          </a:bodyPr>
          <a:lstStyle/>
          <a:p>
            <a:pPr marL="750469" lvl="1" indent="-375234" algn="l">
              <a:lnSpc>
                <a:spcPts val="5387"/>
              </a:lnSpc>
              <a:buFont typeface="Arial"/>
              <a:buChar char="•"/>
            </a:pPr>
            <a:r>
              <a:rPr lang="en-US" sz="3476">
                <a:solidFill>
                  <a:srgbClr val="FFFFFF"/>
                </a:solidFill>
                <a:latin typeface="Kollektif"/>
                <a:ea typeface="Kollektif"/>
                <a:cs typeface="Kollektif"/>
                <a:sym typeface="Kollektif"/>
              </a:rPr>
              <a:t>Methodology</a:t>
            </a:r>
          </a:p>
          <a:p>
            <a:pPr marL="750469" lvl="1" indent="-375234" algn="l">
              <a:lnSpc>
                <a:spcPts val="5387"/>
              </a:lnSpc>
              <a:buFont typeface="Arial"/>
              <a:buChar char="•"/>
            </a:pPr>
            <a:r>
              <a:rPr lang="en-US" sz="3476">
                <a:solidFill>
                  <a:srgbClr val="FFFFFF"/>
                </a:solidFill>
                <a:latin typeface="Kollektif"/>
                <a:ea typeface="Kollektif"/>
                <a:cs typeface="Kollektif"/>
                <a:sym typeface="Kollektif"/>
              </a:rPr>
              <a:t>Outcomes and Contribution</a:t>
            </a:r>
          </a:p>
          <a:p>
            <a:pPr marL="750469" lvl="1" indent="-375234" algn="l">
              <a:lnSpc>
                <a:spcPts val="5387"/>
              </a:lnSpc>
              <a:buFont typeface="Arial"/>
              <a:buChar char="•"/>
            </a:pPr>
            <a:r>
              <a:rPr lang="en-US" sz="3476">
                <a:solidFill>
                  <a:srgbClr val="FFFFFF"/>
                </a:solidFill>
                <a:latin typeface="Kollektif"/>
                <a:ea typeface="Kollektif"/>
                <a:cs typeface="Kollektif"/>
                <a:sym typeface="Kollektif"/>
              </a:rPr>
              <a:t>References</a:t>
            </a:r>
          </a:p>
        </p:txBody>
      </p:sp>
      <p:sp>
        <p:nvSpPr>
          <p:cNvPr id="9" name="TextBox 9"/>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grpSp>
        <p:nvGrpSpPr>
          <p:cNvPr id="10" name="Group 10"/>
          <p:cNvGrpSpPr/>
          <p:nvPr/>
        </p:nvGrpSpPr>
        <p:grpSpPr>
          <a:xfrm rot="-4667749">
            <a:off x="14350320" y="-3994161"/>
            <a:ext cx="3720768" cy="7555779"/>
            <a:chOff x="0" y="0"/>
            <a:chExt cx="979955" cy="1990000"/>
          </a:xfrm>
        </p:grpSpPr>
        <p:sp>
          <p:nvSpPr>
            <p:cNvPr id="11" name="Freeform 11"/>
            <p:cNvSpPr/>
            <p:nvPr/>
          </p:nvSpPr>
          <p:spPr>
            <a:xfrm>
              <a:off x="0" y="0"/>
              <a:ext cx="979955" cy="1989999"/>
            </a:xfrm>
            <a:custGeom>
              <a:avLst/>
              <a:gdLst/>
              <a:ahLst/>
              <a:cxnLst/>
              <a:rect l="l" t="t" r="r" b="b"/>
              <a:pathLst>
                <a:path w="979955" h="1989999">
                  <a:moveTo>
                    <a:pt x="0" y="0"/>
                  </a:moveTo>
                  <a:lnTo>
                    <a:pt x="979955" y="0"/>
                  </a:lnTo>
                  <a:lnTo>
                    <a:pt x="979955" y="1989999"/>
                  </a:lnTo>
                  <a:lnTo>
                    <a:pt x="0" y="1989999"/>
                  </a:lnTo>
                  <a:close/>
                </a:path>
              </a:pathLst>
            </a:custGeom>
            <a:solidFill>
              <a:srgbClr val="497183"/>
            </a:solidFill>
          </p:spPr>
          <p:txBody>
            <a:bodyPr/>
            <a:lstStyle/>
            <a:p>
              <a:endParaRPr lang="en-SG"/>
            </a:p>
          </p:txBody>
        </p:sp>
        <p:sp>
          <p:nvSpPr>
            <p:cNvPr id="12" name="TextBox 12"/>
            <p:cNvSpPr txBox="1"/>
            <p:nvPr/>
          </p:nvSpPr>
          <p:spPr>
            <a:xfrm>
              <a:off x="0" y="-47625"/>
              <a:ext cx="979955" cy="2037625"/>
            </a:xfrm>
            <a:prstGeom prst="rect">
              <a:avLst/>
            </a:prstGeom>
          </p:spPr>
          <p:txBody>
            <a:bodyPr lIns="50800" tIns="50800" rIns="50800" bIns="50800" rtlCol="0" anchor="ctr"/>
            <a:lstStyle/>
            <a:p>
              <a:pPr algn="ctr">
                <a:lnSpc>
                  <a:spcPts val="2659"/>
                </a:lnSpc>
              </a:pPr>
              <a:endParaRPr/>
            </a:p>
          </p:txBody>
        </p:sp>
      </p:grpSp>
      <p:sp>
        <p:nvSpPr>
          <p:cNvPr id="13" name="AutoShape 13"/>
          <p:cNvSpPr/>
          <p:nvPr/>
        </p:nvSpPr>
        <p:spPr>
          <a:xfrm rot="1970442">
            <a:off x="10642332" y="3587829"/>
            <a:ext cx="11643412" cy="0"/>
          </a:xfrm>
          <a:prstGeom prst="line">
            <a:avLst/>
          </a:prstGeom>
          <a:ln w="38100" cap="flat">
            <a:solidFill>
              <a:srgbClr val="F3F6FA"/>
            </a:solidFill>
            <a:prstDash val="solid"/>
            <a:headEnd type="none" w="sm" len="sm"/>
            <a:tailEnd type="none" w="sm" len="sm"/>
          </a:ln>
        </p:spPr>
        <p:txBody>
          <a:bodyPr/>
          <a:lstStyle/>
          <a:p>
            <a:endParaRPr lang="en-SG"/>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2147739" y="5143500"/>
            <a:ext cx="5795602" cy="5795602"/>
            <a:chOff x="0" y="0"/>
            <a:chExt cx="6350000" cy="6350000"/>
          </a:xfrm>
        </p:grpSpPr>
        <p:sp>
          <p:nvSpPr>
            <p:cNvPr id="3" name="Freeform 3"/>
            <p:cNvSpPr/>
            <p:nvPr/>
          </p:nvSpPr>
          <p:spPr>
            <a:xfrm>
              <a:off x="-95377" y="-95377"/>
              <a:ext cx="6540754" cy="6540754"/>
            </a:xfrm>
            <a:custGeom>
              <a:avLst/>
              <a:gdLst/>
              <a:ahLst/>
              <a:cxnLst/>
              <a:rect l="l" t="t" r="r" b="b"/>
              <a:pathLst>
                <a:path w="6540754" h="6540754">
                  <a:moveTo>
                    <a:pt x="6540754" y="0"/>
                  </a:moveTo>
                  <a:lnTo>
                    <a:pt x="0" y="6540754"/>
                  </a:lnTo>
                  <a:lnTo>
                    <a:pt x="6540754" y="6540754"/>
                  </a:lnTo>
                  <a:close/>
                </a:path>
              </a:pathLst>
            </a:custGeom>
            <a:blipFill>
              <a:blip r:embed="rId2"/>
              <a:stretch>
                <a:fillRect r="-49999"/>
              </a:stretch>
            </a:blipFill>
          </p:spPr>
          <p:txBody>
            <a:bodyPr/>
            <a:lstStyle/>
            <a:p>
              <a:endParaRPr lang="en-SG"/>
            </a:p>
          </p:txBody>
        </p:sp>
      </p:grpSp>
      <p:sp>
        <p:nvSpPr>
          <p:cNvPr id="4" name="Freeform 4"/>
          <p:cNvSpPr/>
          <p:nvPr/>
        </p:nvSpPr>
        <p:spPr>
          <a:xfrm rot="5400000" flipH="1" flipV="1">
            <a:off x="-2687567" y="-1297974"/>
            <a:ext cx="5375133" cy="8472926"/>
          </a:xfrm>
          <a:custGeom>
            <a:avLst/>
            <a:gdLst/>
            <a:ahLst/>
            <a:cxnLst/>
            <a:rect l="l" t="t" r="r" b="b"/>
            <a:pathLst>
              <a:path w="5375133" h="8472926">
                <a:moveTo>
                  <a:pt x="5375134" y="8472925"/>
                </a:moveTo>
                <a:lnTo>
                  <a:pt x="0" y="8472925"/>
                </a:lnTo>
                <a:lnTo>
                  <a:pt x="0" y="0"/>
                </a:lnTo>
                <a:lnTo>
                  <a:pt x="5375134" y="0"/>
                </a:lnTo>
                <a:lnTo>
                  <a:pt x="5375134" y="8472925"/>
                </a:lnTo>
                <a:close/>
              </a:path>
            </a:pathLst>
          </a:custGeom>
          <a:blipFill>
            <a:blip r:embed="rId3">
              <a:extLst>
                <a:ext uri="{96DAC541-7B7A-43D3-8B79-37D633B846F1}">
                  <asvg:svgBlip xmlns:asvg="http://schemas.microsoft.com/office/drawing/2016/SVG/main" r:embed="rId4"/>
                </a:ext>
              </a:extLst>
            </a:blip>
            <a:stretch>
              <a:fillRect r="-61881"/>
            </a:stretch>
          </a:blipFill>
        </p:spPr>
        <p:txBody>
          <a:bodyPr/>
          <a:lstStyle/>
          <a:p>
            <a:endParaRPr lang="en-SG"/>
          </a:p>
        </p:txBody>
      </p:sp>
      <p:sp>
        <p:nvSpPr>
          <p:cNvPr id="5" name="Freeform 5"/>
          <p:cNvSpPr/>
          <p:nvPr/>
        </p:nvSpPr>
        <p:spPr>
          <a:xfrm rot="5400000">
            <a:off x="-2126549" y="5719717"/>
            <a:ext cx="4632681" cy="5258396"/>
          </a:xfrm>
          <a:custGeom>
            <a:avLst/>
            <a:gdLst/>
            <a:ahLst/>
            <a:cxnLst/>
            <a:rect l="l" t="t" r="r" b="b"/>
            <a:pathLst>
              <a:path w="4632681" h="5258396">
                <a:moveTo>
                  <a:pt x="0" y="0"/>
                </a:moveTo>
                <a:lnTo>
                  <a:pt x="4632680" y="0"/>
                </a:lnTo>
                <a:lnTo>
                  <a:pt x="4632680" y="5258396"/>
                </a:lnTo>
                <a:lnTo>
                  <a:pt x="0" y="5258396"/>
                </a:lnTo>
                <a:lnTo>
                  <a:pt x="0" y="0"/>
                </a:lnTo>
                <a:close/>
              </a:path>
            </a:pathLst>
          </a:custGeom>
          <a:blipFill>
            <a:blip r:embed="rId5">
              <a:alphaModFix amt="48000"/>
              <a:extLst>
                <a:ext uri="{96DAC541-7B7A-43D3-8B79-37D633B846F1}">
                  <asvg:svgBlip xmlns:asvg="http://schemas.microsoft.com/office/drawing/2016/SVG/main" r:embed="rId6"/>
                </a:ext>
              </a:extLst>
            </a:blip>
            <a:stretch>
              <a:fillRect r="-43679"/>
            </a:stretch>
          </a:blipFill>
        </p:spPr>
        <p:txBody>
          <a:bodyPr/>
          <a:lstStyle/>
          <a:p>
            <a:endParaRPr lang="en-SG"/>
          </a:p>
        </p:txBody>
      </p:sp>
      <p:grpSp>
        <p:nvGrpSpPr>
          <p:cNvPr id="6" name="Group 6"/>
          <p:cNvGrpSpPr/>
          <p:nvPr/>
        </p:nvGrpSpPr>
        <p:grpSpPr>
          <a:xfrm rot="-5845962">
            <a:off x="2694164" y="5655333"/>
            <a:ext cx="3720768" cy="12187601"/>
            <a:chOff x="0" y="0"/>
            <a:chExt cx="979955" cy="3209903"/>
          </a:xfrm>
        </p:grpSpPr>
        <p:sp>
          <p:nvSpPr>
            <p:cNvPr id="7" name="Freeform 7"/>
            <p:cNvSpPr/>
            <p:nvPr/>
          </p:nvSpPr>
          <p:spPr>
            <a:xfrm>
              <a:off x="0" y="0"/>
              <a:ext cx="979955" cy="3209903"/>
            </a:xfrm>
            <a:custGeom>
              <a:avLst/>
              <a:gdLst/>
              <a:ahLst/>
              <a:cxnLst/>
              <a:rect l="l" t="t" r="r" b="b"/>
              <a:pathLst>
                <a:path w="979955" h="3209903">
                  <a:moveTo>
                    <a:pt x="0" y="0"/>
                  </a:moveTo>
                  <a:lnTo>
                    <a:pt x="979955" y="0"/>
                  </a:lnTo>
                  <a:lnTo>
                    <a:pt x="979955" y="3209903"/>
                  </a:lnTo>
                  <a:lnTo>
                    <a:pt x="0" y="3209903"/>
                  </a:lnTo>
                  <a:close/>
                </a:path>
              </a:pathLst>
            </a:custGeom>
            <a:solidFill>
              <a:srgbClr val="0B1320"/>
            </a:solidFill>
          </p:spPr>
          <p:txBody>
            <a:bodyPr/>
            <a:lstStyle/>
            <a:p>
              <a:endParaRPr lang="en-SG"/>
            </a:p>
          </p:txBody>
        </p:sp>
        <p:sp>
          <p:nvSpPr>
            <p:cNvPr id="8" name="TextBox 8"/>
            <p:cNvSpPr txBox="1"/>
            <p:nvPr/>
          </p:nvSpPr>
          <p:spPr>
            <a:xfrm>
              <a:off x="0" y="-47625"/>
              <a:ext cx="979955" cy="3257528"/>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28827" y="242827"/>
            <a:ext cx="8971636" cy="1409821"/>
          </a:xfrm>
          <a:prstGeom prst="rect">
            <a:avLst/>
          </a:prstGeom>
        </p:spPr>
        <p:txBody>
          <a:bodyPr lIns="0" tIns="0" rIns="0" bIns="0" rtlCol="0" anchor="t">
            <a:spAutoFit/>
          </a:bodyPr>
          <a:lstStyle/>
          <a:p>
            <a:pPr algn="l">
              <a:lnSpc>
                <a:spcPts val="11536"/>
              </a:lnSpc>
            </a:pPr>
            <a:r>
              <a:rPr lang="en-US" sz="8240" b="1">
                <a:solidFill>
                  <a:srgbClr val="0B1320"/>
                </a:solidFill>
                <a:latin typeface="League Spartan"/>
                <a:ea typeface="League Spartan"/>
                <a:cs typeface="League Spartan"/>
                <a:sym typeface="League Spartan"/>
              </a:rPr>
              <a:t>Introduction</a:t>
            </a:r>
          </a:p>
        </p:txBody>
      </p:sp>
      <p:sp>
        <p:nvSpPr>
          <p:cNvPr id="10" name="TextBox 10"/>
          <p:cNvSpPr txBox="1"/>
          <p:nvPr/>
        </p:nvSpPr>
        <p:spPr>
          <a:xfrm>
            <a:off x="797079" y="1937068"/>
            <a:ext cx="8435131" cy="1001420"/>
          </a:xfrm>
          <a:prstGeom prst="rect">
            <a:avLst/>
          </a:prstGeom>
        </p:spPr>
        <p:txBody>
          <a:bodyPr lIns="0" tIns="0" rIns="0" bIns="0" rtlCol="0" anchor="t">
            <a:spAutoFit/>
          </a:bodyPr>
          <a:lstStyle/>
          <a:p>
            <a:pPr algn="just">
              <a:lnSpc>
                <a:spcPts val="4111"/>
              </a:lnSpc>
            </a:pPr>
            <a:r>
              <a:rPr lang="en-US" sz="2310" b="1">
                <a:solidFill>
                  <a:srgbClr val="1C3F60"/>
                </a:solidFill>
                <a:latin typeface="Kollektif Bold"/>
                <a:ea typeface="Kollektif Bold"/>
                <a:cs typeface="Kollektif Bold"/>
                <a:sym typeface="Kollektif Bold"/>
              </a:rPr>
              <a:t>Research Topic </a:t>
            </a:r>
            <a:r>
              <a:rPr lang="en-US" sz="2310">
                <a:solidFill>
                  <a:srgbClr val="1C3F60"/>
                </a:solidFill>
                <a:latin typeface="Kollektif"/>
                <a:ea typeface="Kollektif"/>
                <a:cs typeface="Kollektif"/>
                <a:sym typeface="Kollektif"/>
              </a:rPr>
              <a:t>:</a:t>
            </a:r>
          </a:p>
          <a:p>
            <a:pPr algn="just">
              <a:lnSpc>
                <a:spcPts val="4111"/>
              </a:lnSpc>
            </a:pPr>
            <a:r>
              <a:rPr lang="en-US" sz="2310">
                <a:solidFill>
                  <a:srgbClr val="1C3F60"/>
                </a:solidFill>
                <a:latin typeface="Kollektif"/>
                <a:ea typeface="Kollektif"/>
                <a:cs typeface="Kollektif"/>
                <a:sym typeface="Kollektif"/>
              </a:rPr>
              <a:t>Detect the probability of a scenario which occurs accident or not</a:t>
            </a:r>
          </a:p>
        </p:txBody>
      </p:sp>
      <p:sp>
        <p:nvSpPr>
          <p:cNvPr id="11" name="TextBox 11"/>
          <p:cNvSpPr txBox="1"/>
          <p:nvPr/>
        </p:nvSpPr>
        <p:spPr>
          <a:xfrm>
            <a:off x="1038225" y="935928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25-02-2025</a:t>
            </a:r>
          </a:p>
        </p:txBody>
      </p:sp>
      <p:sp>
        <p:nvSpPr>
          <p:cNvPr id="12" name="TextBox 12"/>
          <p:cNvSpPr txBox="1"/>
          <p:nvPr/>
        </p:nvSpPr>
        <p:spPr>
          <a:xfrm>
            <a:off x="9852869" y="1890023"/>
            <a:ext cx="8090472" cy="3058820"/>
          </a:xfrm>
          <a:prstGeom prst="rect">
            <a:avLst/>
          </a:prstGeom>
        </p:spPr>
        <p:txBody>
          <a:bodyPr lIns="0" tIns="0" rIns="0" bIns="0" rtlCol="0" anchor="t">
            <a:spAutoFit/>
          </a:bodyPr>
          <a:lstStyle/>
          <a:p>
            <a:pPr algn="just">
              <a:lnSpc>
                <a:spcPts val="4111"/>
              </a:lnSpc>
            </a:pPr>
            <a:r>
              <a:rPr lang="en-US" sz="2310" b="1">
                <a:solidFill>
                  <a:srgbClr val="1C3F60"/>
                </a:solidFill>
                <a:latin typeface="Kollektif Bold"/>
                <a:ea typeface="Kollektif Bold"/>
                <a:cs typeface="Kollektif Bold"/>
                <a:sym typeface="Kollektif Bold"/>
              </a:rPr>
              <a:t>Significance </a:t>
            </a:r>
            <a:r>
              <a:rPr lang="en-US" sz="2310">
                <a:solidFill>
                  <a:srgbClr val="1C3F60"/>
                </a:solidFill>
                <a:latin typeface="Kollektif"/>
                <a:ea typeface="Kollektif"/>
                <a:cs typeface="Kollektif"/>
                <a:sym typeface="Kollektif"/>
              </a:rPr>
              <a:t>:</a:t>
            </a:r>
          </a:p>
          <a:p>
            <a:pPr marL="498729" lvl="1" indent="-249365" algn="just">
              <a:lnSpc>
                <a:spcPts val="4111"/>
              </a:lnSpc>
              <a:buFont typeface="Arial"/>
              <a:buChar char="•"/>
            </a:pPr>
            <a:r>
              <a:rPr lang="en-US" sz="2310">
                <a:solidFill>
                  <a:srgbClr val="1C3F60"/>
                </a:solidFill>
                <a:latin typeface="Kollektif"/>
                <a:ea typeface="Kollektif"/>
                <a:cs typeface="Kollektif"/>
                <a:sym typeface="Kollektif"/>
              </a:rPr>
              <a:t>Provide a scalable solution for real world development sector</a:t>
            </a:r>
          </a:p>
          <a:p>
            <a:pPr marL="498729" lvl="1" indent="-249365" algn="just">
              <a:lnSpc>
                <a:spcPts val="4111"/>
              </a:lnSpc>
              <a:buFont typeface="Arial"/>
              <a:buChar char="•"/>
            </a:pPr>
            <a:r>
              <a:rPr lang="en-US" sz="2310">
                <a:solidFill>
                  <a:srgbClr val="1C3F60"/>
                </a:solidFill>
                <a:latin typeface="Kollektif"/>
                <a:ea typeface="Kollektif"/>
                <a:cs typeface="Kollektif"/>
                <a:sym typeface="Kollektif"/>
              </a:rPr>
              <a:t>The study offers potential applications in smart cities, highway surveillance, and autonomous vehicles.</a:t>
            </a:r>
          </a:p>
          <a:p>
            <a:pPr algn="just">
              <a:lnSpc>
                <a:spcPts val="4111"/>
              </a:lnSpc>
            </a:pPr>
            <a:endParaRPr lang="en-US" sz="2310">
              <a:solidFill>
                <a:srgbClr val="1C3F60"/>
              </a:solidFill>
              <a:latin typeface="Kollektif"/>
              <a:ea typeface="Kollektif"/>
              <a:cs typeface="Kollektif"/>
              <a:sym typeface="Kollektif"/>
            </a:endParaRPr>
          </a:p>
        </p:txBody>
      </p:sp>
      <p:sp>
        <p:nvSpPr>
          <p:cNvPr id="13" name="TextBox 13"/>
          <p:cNvSpPr txBox="1"/>
          <p:nvPr/>
        </p:nvSpPr>
        <p:spPr>
          <a:xfrm>
            <a:off x="9852869" y="4919807"/>
            <a:ext cx="7041001" cy="2030120"/>
          </a:xfrm>
          <a:prstGeom prst="rect">
            <a:avLst/>
          </a:prstGeom>
        </p:spPr>
        <p:txBody>
          <a:bodyPr lIns="0" tIns="0" rIns="0" bIns="0" rtlCol="0" anchor="t">
            <a:spAutoFit/>
          </a:bodyPr>
          <a:lstStyle/>
          <a:p>
            <a:pPr algn="just">
              <a:lnSpc>
                <a:spcPts val="4111"/>
              </a:lnSpc>
            </a:pPr>
            <a:r>
              <a:rPr lang="en-US" sz="2310" b="1">
                <a:solidFill>
                  <a:srgbClr val="1C3F60"/>
                </a:solidFill>
                <a:latin typeface="Kollektif Bold"/>
                <a:ea typeface="Kollektif Bold"/>
                <a:cs typeface="Kollektif Bold"/>
                <a:sym typeface="Kollektif Bold"/>
              </a:rPr>
              <a:t>Research Problem</a:t>
            </a:r>
            <a:r>
              <a:rPr lang="en-US" sz="2310">
                <a:solidFill>
                  <a:srgbClr val="1C3F60"/>
                </a:solidFill>
                <a:latin typeface="Kollektif"/>
                <a:ea typeface="Kollektif"/>
                <a:cs typeface="Kollektif"/>
                <a:sym typeface="Kollektif"/>
              </a:rPr>
              <a:t>:</a:t>
            </a:r>
          </a:p>
          <a:p>
            <a:pPr algn="just">
              <a:lnSpc>
                <a:spcPts val="4111"/>
              </a:lnSpc>
            </a:pPr>
            <a:r>
              <a:rPr lang="en-US" sz="2310">
                <a:solidFill>
                  <a:srgbClr val="1C3F60"/>
                </a:solidFill>
                <a:latin typeface="Kollektif"/>
                <a:ea typeface="Kollektif"/>
                <a:cs typeface="Kollektif"/>
                <a:sym typeface="Kollektif"/>
              </a:rPr>
              <a:t>The challenge is detecting accidents accurately in diverse, real-time environments.</a:t>
            </a:r>
          </a:p>
          <a:p>
            <a:pPr algn="just">
              <a:lnSpc>
                <a:spcPts val="4111"/>
              </a:lnSpc>
            </a:pPr>
            <a:endParaRPr lang="en-US" sz="2310">
              <a:solidFill>
                <a:srgbClr val="1C3F60"/>
              </a:solidFill>
              <a:latin typeface="Kollektif"/>
              <a:ea typeface="Kollektif"/>
              <a:cs typeface="Kollektif"/>
              <a:sym typeface="Kollektif"/>
            </a:endParaRPr>
          </a:p>
        </p:txBody>
      </p:sp>
      <p:sp>
        <p:nvSpPr>
          <p:cNvPr id="14" name="TextBox 14"/>
          <p:cNvSpPr txBox="1"/>
          <p:nvPr/>
        </p:nvSpPr>
        <p:spPr>
          <a:xfrm>
            <a:off x="708869" y="3654910"/>
            <a:ext cx="8435131" cy="4601870"/>
          </a:xfrm>
          <a:prstGeom prst="rect">
            <a:avLst/>
          </a:prstGeom>
        </p:spPr>
        <p:txBody>
          <a:bodyPr lIns="0" tIns="0" rIns="0" bIns="0" rtlCol="0" anchor="t">
            <a:spAutoFit/>
          </a:bodyPr>
          <a:lstStyle/>
          <a:p>
            <a:pPr algn="just">
              <a:lnSpc>
                <a:spcPts val="4111"/>
              </a:lnSpc>
            </a:pPr>
            <a:r>
              <a:rPr lang="en-US" sz="2310" b="1">
                <a:solidFill>
                  <a:srgbClr val="1C3F60"/>
                </a:solidFill>
                <a:latin typeface="Kollektif Bold"/>
                <a:ea typeface="Kollektif Bold"/>
                <a:cs typeface="Kollektif Bold"/>
                <a:sym typeface="Kollektif Bold"/>
              </a:rPr>
              <a:t>Research Question</a:t>
            </a:r>
          </a:p>
          <a:p>
            <a:pPr algn="just">
              <a:lnSpc>
                <a:spcPts val="4111"/>
              </a:lnSpc>
            </a:pPr>
            <a:r>
              <a:rPr lang="en-US" sz="2310">
                <a:solidFill>
                  <a:srgbClr val="1C3F60"/>
                </a:solidFill>
                <a:latin typeface="Kollektif"/>
                <a:ea typeface="Kollektif"/>
                <a:cs typeface="Kollektif"/>
                <a:sym typeface="Kollektif"/>
              </a:rPr>
              <a:t>1.Can YOLOv8 detect accidents in real-time with sufficient accuracy?</a:t>
            </a:r>
          </a:p>
          <a:p>
            <a:pPr algn="just">
              <a:lnSpc>
                <a:spcPts val="4111"/>
              </a:lnSpc>
            </a:pPr>
            <a:r>
              <a:rPr lang="en-US" sz="2310">
                <a:solidFill>
                  <a:srgbClr val="1C3F60"/>
                </a:solidFill>
                <a:latin typeface="Kollektif"/>
                <a:ea typeface="Kollektif"/>
                <a:cs typeface="Kollektif"/>
                <a:sym typeface="Kollektif"/>
              </a:rPr>
              <a:t>2.How can noise removal techniques, like bilateral filtering, improve model performance?</a:t>
            </a:r>
          </a:p>
          <a:p>
            <a:pPr algn="just">
              <a:lnSpc>
                <a:spcPts val="4111"/>
              </a:lnSpc>
            </a:pPr>
            <a:r>
              <a:rPr lang="en-US" sz="2310">
                <a:solidFill>
                  <a:srgbClr val="1C3F60"/>
                </a:solidFill>
                <a:latin typeface="Kollektif"/>
                <a:ea typeface="Kollektif"/>
                <a:cs typeface="Kollektif"/>
                <a:sym typeface="Kollektif"/>
              </a:rPr>
              <a:t>3.How do alternative models, like the two-stream CNN, compare to YOLOv8?</a:t>
            </a:r>
          </a:p>
          <a:p>
            <a:pPr algn="just">
              <a:lnSpc>
                <a:spcPts val="4111"/>
              </a:lnSpc>
            </a:pPr>
            <a:r>
              <a:rPr lang="en-US" sz="2310">
                <a:solidFill>
                  <a:srgbClr val="1C3F60"/>
                </a:solidFill>
                <a:latin typeface="Kollektif"/>
                <a:ea typeface="Kollektif"/>
                <a:cs typeface="Kollektif"/>
                <a:sym typeface="Kollektif"/>
              </a:rPr>
              <a:t>.</a:t>
            </a:r>
          </a:p>
          <a:p>
            <a:pPr algn="just">
              <a:lnSpc>
                <a:spcPts val="4111"/>
              </a:lnSpc>
            </a:pPr>
            <a:endParaRPr lang="en-US" sz="2310">
              <a:solidFill>
                <a:srgbClr val="1C3F60"/>
              </a:solidFill>
              <a:latin typeface="Kollektif"/>
              <a:ea typeface="Kollektif"/>
              <a:cs typeface="Kollektif"/>
              <a:sym typeface="Kollektif"/>
            </a:endParaRPr>
          </a:p>
        </p:txBody>
      </p:sp>
    </p:spTree>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sp>
        <p:nvSpPr>
          <p:cNvPr id="2" name="TextBox 2"/>
          <p:cNvSpPr txBox="1"/>
          <p:nvPr/>
        </p:nvSpPr>
        <p:spPr>
          <a:xfrm>
            <a:off x="3834376" y="481180"/>
            <a:ext cx="10773093" cy="1089151"/>
          </a:xfrm>
          <a:prstGeom prst="rect">
            <a:avLst/>
          </a:prstGeom>
        </p:spPr>
        <p:txBody>
          <a:bodyPr lIns="0" tIns="0" rIns="0" bIns="0" rtlCol="0" anchor="t">
            <a:spAutoFit/>
          </a:bodyPr>
          <a:lstStyle/>
          <a:p>
            <a:pPr algn="ctr">
              <a:lnSpc>
                <a:spcPts val="8133"/>
              </a:lnSpc>
            </a:pPr>
            <a:r>
              <a:rPr lang="en-US" sz="8299" b="1">
                <a:solidFill>
                  <a:srgbClr val="F3F6FA"/>
                </a:solidFill>
                <a:latin typeface="League Spartan"/>
                <a:ea typeface="League Spartan"/>
                <a:cs typeface="League Spartan"/>
                <a:sym typeface="League Spartan"/>
              </a:rPr>
              <a:t>Background Study</a:t>
            </a:r>
          </a:p>
        </p:txBody>
      </p:sp>
      <p:sp>
        <p:nvSpPr>
          <p:cNvPr id="3" name="TextBox 3"/>
          <p:cNvSpPr txBox="1"/>
          <p:nvPr/>
        </p:nvSpPr>
        <p:spPr>
          <a:xfrm>
            <a:off x="9144000" y="4841729"/>
            <a:ext cx="8330776" cy="5132386"/>
          </a:xfrm>
          <a:prstGeom prst="rect">
            <a:avLst/>
          </a:prstGeom>
        </p:spPr>
        <p:txBody>
          <a:bodyPr lIns="0" tIns="0" rIns="0" bIns="0" rtlCol="0" anchor="t">
            <a:spAutoFit/>
          </a:bodyPr>
          <a:lstStyle/>
          <a:p>
            <a:pPr algn="just">
              <a:lnSpc>
                <a:spcPts val="4703"/>
              </a:lnSpc>
            </a:pPr>
            <a:r>
              <a:rPr lang="en-US" sz="2642">
                <a:solidFill>
                  <a:srgbClr val="F3F6FA"/>
                </a:solidFill>
                <a:latin typeface="Kollektif"/>
                <a:ea typeface="Kollektif"/>
                <a:cs typeface="Kollektif"/>
                <a:sym typeface="Kollektif"/>
              </a:rPr>
              <a:t>Key Concepts and Theories</a:t>
            </a:r>
          </a:p>
          <a:p>
            <a:pPr algn="just">
              <a:lnSpc>
                <a:spcPts val="4467"/>
              </a:lnSpc>
            </a:pPr>
            <a:endParaRPr lang="en-US" sz="2642">
              <a:solidFill>
                <a:srgbClr val="F3F6FA"/>
              </a:solidFill>
              <a:latin typeface="Kollektif"/>
              <a:ea typeface="Kollektif"/>
              <a:cs typeface="Kollektif"/>
              <a:sym typeface="Kollektif"/>
            </a:endParaRPr>
          </a:p>
          <a:p>
            <a:pPr marL="950759" lvl="2" indent="-316920" algn="just">
              <a:lnSpc>
                <a:spcPts val="3919"/>
              </a:lnSpc>
              <a:buFont typeface="Arial"/>
              <a:buChar char="⚬"/>
            </a:pPr>
            <a:r>
              <a:rPr lang="en-US" sz="2201">
                <a:solidFill>
                  <a:srgbClr val="F3F6FA"/>
                </a:solidFill>
                <a:latin typeface="Kollektif"/>
                <a:ea typeface="Kollektif"/>
                <a:cs typeface="Kollektif"/>
                <a:sym typeface="Kollektif"/>
              </a:rPr>
              <a:t>YOLOv8 (You Only Look Once): A state-of-the-art object detection algorithm that provides real-time object detection.</a:t>
            </a:r>
          </a:p>
          <a:p>
            <a:pPr marL="950759" lvl="2" indent="-316920" algn="just">
              <a:lnSpc>
                <a:spcPts val="3919"/>
              </a:lnSpc>
              <a:buFont typeface="Arial"/>
              <a:buChar char="⚬"/>
            </a:pPr>
            <a:r>
              <a:rPr lang="en-US" sz="2201">
                <a:solidFill>
                  <a:srgbClr val="F3F6FA"/>
                </a:solidFill>
                <a:latin typeface="Kollektif"/>
                <a:ea typeface="Kollektif"/>
                <a:cs typeface="Kollektif"/>
                <a:sym typeface="Kollektif"/>
              </a:rPr>
              <a:t>Two-Stream CNN: A model that processes two input streams for multi-viewpoint learning, often used in dynamic scene analysis like accident detection.</a:t>
            </a:r>
          </a:p>
          <a:p>
            <a:pPr marL="950759" lvl="2" indent="-316920" algn="just">
              <a:lnSpc>
                <a:spcPts val="3919"/>
              </a:lnSpc>
              <a:buFont typeface="Arial"/>
              <a:buChar char="⚬"/>
            </a:pPr>
            <a:r>
              <a:rPr lang="en-US" sz="2201">
                <a:solidFill>
                  <a:srgbClr val="F3F6FA"/>
                </a:solidFill>
                <a:latin typeface="Kollektif"/>
                <a:ea typeface="Kollektif"/>
                <a:cs typeface="Kollektif"/>
                <a:sym typeface="Kollektif"/>
              </a:rPr>
              <a:t>Bilateral Filtering: A noise reduction technique that smoothens images while preserving edges.</a:t>
            </a:r>
          </a:p>
          <a:p>
            <a:pPr algn="just">
              <a:lnSpc>
                <a:spcPts val="4467"/>
              </a:lnSpc>
            </a:pPr>
            <a:endParaRPr lang="en-US" sz="2201">
              <a:solidFill>
                <a:srgbClr val="F3F6FA"/>
              </a:solidFill>
              <a:latin typeface="Kollektif"/>
              <a:ea typeface="Kollektif"/>
              <a:cs typeface="Kollektif"/>
              <a:sym typeface="Kollektif"/>
            </a:endParaRPr>
          </a:p>
        </p:txBody>
      </p:sp>
      <p:grpSp>
        <p:nvGrpSpPr>
          <p:cNvPr id="4" name="Group 4"/>
          <p:cNvGrpSpPr/>
          <p:nvPr/>
        </p:nvGrpSpPr>
        <p:grpSpPr>
          <a:xfrm rot="-3910511">
            <a:off x="1682488" y="4583641"/>
            <a:ext cx="4966771" cy="11433354"/>
            <a:chOff x="0" y="0"/>
            <a:chExt cx="1308121" cy="3011254"/>
          </a:xfrm>
        </p:grpSpPr>
        <p:sp>
          <p:nvSpPr>
            <p:cNvPr id="5" name="Freeform 5"/>
            <p:cNvSpPr/>
            <p:nvPr/>
          </p:nvSpPr>
          <p:spPr>
            <a:xfrm>
              <a:off x="0" y="0"/>
              <a:ext cx="1308121" cy="3011254"/>
            </a:xfrm>
            <a:custGeom>
              <a:avLst/>
              <a:gdLst/>
              <a:ahLst/>
              <a:cxnLst/>
              <a:rect l="l" t="t" r="r" b="b"/>
              <a:pathLst>
                <a:path w="1308121" h="3011254">
                  <a:moveTo>
                    <a:pt x="0" y="0"/>
                  </a:moveTo>
                  <a:lnTo>
                    <a:pt x="1308121" y="0"/>
                  </a:lnTo>
                  <a:lnTo>
                    <a:pt x="1308121" y="3011254"/>
                  </a:lnTo>
                  <a:lnTo>
                    <a:pt x="0" y="3011254"/>
                  </a:lnTo>
                  <a:close/>
                </a:path>
              </a:pathLst>
            </a:custGeom>
            <a:solidFill>
              <a:srgbClr val="F3F6FA"/>
            </a:solidFill>
          </p:spPr>
          <p:txBody>
            <a:bodyPr/>
            <a:lstStyle/>
            <a:p>
              <a:endParaRPr lang="en-SG"/>
            </a:p>
          </p:txBody>
        </p:sp>
        <p:sp>
          <p:nvSpPr>
            <p:cNvPr id="6" name="TextBox 6"/>
            <p:cNvSpPr txBox="1"/>
            <p:nvPr/>
          </p:nvSpPr>
          <p:spPr>
            <a:xfrm>
              <a:off x="0" y="-47625"/>
              <a:ext cx="1308121" cy="3058879"/>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rot="-486711">
            <a:off x="10011160" y="9577750"/>
            <a:ext cx="9192617" cy="1674542"/>
            <a:chOff x="0" y="0"/>
            <a:chExt cx="2421101" cy="441032"/>
          </a:xfrm>
        </p:grpSpPr>
        <p:sp>
          <p:nvSpPr>
            <p:cNvPr id="8" name="Freeform 8"/>
            <p:cNvSpPr/>
            <p:nvPr/>
          </p:nvSpPr>
          <p:spPr>
            <a:xfrm>
              <a:off x="0" y="0"/>
              <a:ext cx="2421101" cy="441032"/>
            </a:xfrm>
            <a:custGeom>
              <a:avLst/>
              <a:gdLst/>
              <a:ahLst/>
              <a:cxnLst/>
              <a:rect l="l" t="t" r="r" b="b"/>
              <a:pathLst>
                <a:path w="2421101" h="441032">
                  <a:moveTo>
                    <a:pt x="0" y="0"/>
                  </a:moveTo>
                  <a:lnTo>
                    <a:pt x="2421101" y="0"/>
                  </a:lnTo>
                  <a:lnTo>
                    <a:pt x="2421101" y="441032"/>
                  </a:lnTo>
                  <a:lnTo>
                    <a:pt x="0" y="441032"/>
                  </a:lnTo>
                  <a:close/>
                </a:path>
              </a:pathLst>
            </a:custGeom>
            <a:solidFill>
              <a:srgbClr val="497183"/>
            </a:solidFill>
          </p:spPr>
          <p:txBody>
            <a:bodyPr/>
            <a:lstStyle/>
            <a:p>
              <a:endParaRPr lang="en-SG"/>
            </a:p>
          </p:txBody>
        </p:sp>
        <p:sp>
          <p:nvSpPr>
            <p:cNvPr id="9" name="TextBox 9"/>
            <p:cNvSpPr txBox="1"/>
            <p:nvPr/>
          </p:nvSpPr>
          <p:spPr>
            <a:xfrm>
              <a:off x="0" y="-47625"/>
              <a:ext cx="2421101" cy="488657"/>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10800000" flipH="1" flipV="1">
            <a:off x="-4605697" y="-4183399"/>
            <a:ext cx="6989146" cy="11017126"/>
          </a:xfrm>
          <a:custGeom>
            <a:avLst/>
            <a:gdLst/>
            <a:ahLst/>
            <a:cxnLst/>
            <a:rect l="l" t="t" r="r" b="b"/>
            <a:pathLst>
              <a:path w="6989146" h="11017126">
                <a:moveTo>
                  <a:pt x="6989147" y="11017126"/>
                </a:moveTo>
                <a:lnTo>
                  <a:pt x="0" y="11017126"/>
                </a:lnTo>
                <a:lnTo>
                  <a:pt x="0" y="0"/>
                </a:lnTo>
                <a:lnTo>
                  <a:pt x="6989147" y="0"/>
                </a:lnTo>
                <a:lnTo>
                  <a:pt x="6989147" y="11017126"/>
                </a:lnTo>
                <a:close/>
              </a:path>
            </a:pathLst>
          </a:custGeom>
          <a:blipFill>
            <a:blip r:embed="rId2">
              <a:alphaModFix amt="7999"/>
              <a:extLst>
                <a:ext uri="{96DAC541-7B7A-43D3-8B79-37D633B846F1}">
                  <asvg:svgBlip xmlns:asvg="http://schemas.microsoft.com/office/drawing/2016/SVG/main" r:embed="rId3"/>
                </a:ext>
              </a:extLst>
            </a:blip>
            <a:stretch>
              <a:fillRect r="-61881"/>
            </a:stretch>
          </a:blipFill>
        </p:spPr>
        <p:txBody>
          <a:bodyPr/>
          <a:lstStyle/>
          <a:p>
            <a:endParaRPr lang="en-SG"/>
          </a:p>
        </p:txBody>
      </p:sp>
      <p:sp>
        <p:nvSpPr>
          <p:cNvPr id="11" name="TextBox 11"/>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25-02-2025</a:t>
            </a:r>
          </a:p>
        </p:txBody>
      </p:sp>
      <p:sp>
        <p:nvSpPr>
          <p:cNvPr id="12" name="Freeform 12"/>
          <p:cNvSpPr/>
          <p:nvPr/>
        </p:nvSpPr>
        <p:spPr>
          <a:xfrm>
            <a:off x="14040881" y="1325164"/>
            <a:ext cx="3954369" cy="3954369"/>
          </a:xfrm>
          <a:custGeom>
            <a:avLst/>
            <a:gdLst/>
            <a:ahLst/>
            <a:cxnLst/>
            <a:rect l="l" t="t" r="r" b="b"/>
            <a:pathLst>
              <a:path w="3954369" h="3954369">
                <a:moveTo>
                  <a:pt x="0" y="0"/>
                </a:moveTo>
                <a:lnTo>
                  <a:pt x="3954369" y="0"/>
                </a:lnTo>
                <a:lnTo>
                  <a:pt x="3954369" y="3954368"/>
                </a:lnTo>
                <a:lnTo>
                  <a:pt x="0" y="395436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3" name="AutoShape 13"/>
          <p:cNvSpPr/>
          <p:nvPr/>
        </p:nvSpPr>
        <p:spPr>
          <a:xfrm rot="9148715">
            <a:off x="5472606" y="8961146"/>
            <a:ext cx="14028815" cy="0"/>
          </a:xfrm>
          <a:prstGeom prst="line">
            <a:avLst/>
          </a:prstGeom>
          <a:ln w="38100" cap="flat">
            <a:solidFill>
              <a:srgbClr val="F3F6FA"/>
            </a:solidFill>
            <a:prstDash val="solid"/>
            <a:headEnd type="none" w="sm" len="sm"/>
            <a:tailEnd type="none" w="sm" len="sm"/>
          </a:ln>
        </p:spPr>
        <p:txBody>
          <a:bodyPr/>
          <a:lstStyle/>
          <a:p>
            <a:endParaRPr lang="en-SG"/>
          </a:p>
        </p:txBody>
      </p:sp>
      <p:sp>
        <p:nvSpPr>
          <p:cNvPr id="14" name="TextBox 14"/>
          <p:cNvSpPr txBox="1"/>
          <p:nvPr/>
        </p:nvSpPr>
        <p:spPr>
          <a:xfrm>
            <a:off x="1028700" y="1738780"/>
            <a:ext cx="7428523" cy="3615066"/>
          </a:xfrm>
          <a:prstGeom prst="rect">
            <a:avLst/>
          </a:prstGeom>
        </p:spPr>
        <p:txBody>
          <a:bodyPr lIns="0" tIns="0" rIns="0" bIns="0" rtlCol="0" anchor="t">
            <a:spAutoFit/>
          </a:bodyPr>
          <a:lstStyle/>
          <a:p>
            <a:pPr algn="just">
              <a:lnSpc>
                <a:spcPts val="4449"/>
              </a:lnSpc>
            </a:pPr>
            <a:r>
              <a:rPr lang="en-US" sz="2499">
                <a:solidFill>
                  <a:srgbClr val="F3F6FA"/>
                </a:solidFill>
                <a:latin typeface="Kollektif"/>
                <a:ea typeface="Kollektif"/>
                <a:cs typeface="Kollektif"/>
                <a:sym typeface="Kollektif"/>
              </a:rPr>
              <a:t>Context of research</a:t>
            </a:r>
          </a:p>
          <a:p>
            <a:pPr algn="just">
              <a:lnSpc>
                <a:spcPts val="4050"/>
              </a:lnSpc>
            </a:pPr>
            <a:endParaRPr lang="en-US" sz="2499">
              <a:solidFill>
                <a:srgbClr val="F3F6FA"/>
              </a:solidFill>
              <a:latin typeface="Kollektif"/>
              <a:ea typeface="Kollektif"/>
              <a:cs typeface="Kollektif"/>
              <a:sym typeface="Kollektif"/>
            </a:endParaRPr>
          </a:p>
          <a:p>
            <a:pPr algn="just">
              <a:lnSpc>
                <a:spcPts val="4050"/>
              </a:lnSpc>
            </a:pPr>
            <a:r>
              <a:rPr lang="en-US" sz="2275">
                <a:solidFill>
                  <a:srgbClr val="F3F6FA"/>
                </a:solidFill>
                <a:latin typeface="Kollektif"/>
                <a:ea typeface="Kollektif"/>
                <a:cs typeface="Kollektif"/>
                <a:sym typeface="Kollektif"/>
              </a:rPr>
              <a:t>A custom dataset of 1500 videos was transformed into images and filter with bilateral filtering. Two models, YOLOv8 for real-time object detection and a Two-Stream CNN for feature extraction, were trained, enhancing accident detection performance. </a:t>
            </a:r>
          </a:p>
        </p:txBody>
      </p:sp>
    </p:spTree>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592764" y="9258300"/>
            <a:ext cx="19665504" cy="2367171"/>
            <a:chOff x="0" y="0"/>
            <a:chExt cx="5179392" cy="623452"/>
          </a:xfrm>
        </p:grpSpPr>
        <p:sp>
          <p:nvSpPr>
            <p:cNvPr id="3" name="Freeform 3"/>
            <p:cNvSpPr/>
            <p:nvPr/>
          </p:nvSpPr>
          <p:spPr>
            <a:xfrm>
              <a:off x="0" y="0"/>
              <a:ext cx="5179392" cy="623452"/>
            </a:xfrm>
            <a:custGeom>
              <a:avLst/>
              <a:gdLst/>
              <a:ahLst/>
              <a:cxnLst/>
              <a:rect l="l" t="t" r="r" b="b"/>
              <a:pathLst>
                <a:path w="5179392" h="623452">
                  <a:moveTo>
                    <a:pt x="0" y="0"/>
                  </a:moveTo>
                  <a:lnTo>
                    <a:pt x="5179392" y="0"/>
                  </a:lnTo>
                  <a:lnTo>
                    <a:pt x="5179392" y="623452"/>
                  </a:lnTo>
                  <a:lnTo>
                    <a:pt x="0" y="623452"/>
                  </a:lnTo>
                  <a:close/>
                </a:path>
              </a:pathLst>
            </a:custGeom>
            <a:solidFill>
              <a:srgbClr val="0B1320"/>
            </a:solidFill>
          </p:spPr>
          <p:txBody>
            <a:bodyPr/>
            <a:lstStyle/>
            <a:p>
              <a:endParaRPr lang="en-SG"/>
            </a:p>
          </p:txBody>
        </p:sp>
        <p:sp>
          <p:nvSpPr>
            <p:cNvPr id="4" name="TextBox 4"/>
            <p:cNvSpPr txBox="1"/>
            <p:nvPr/>
          </p:nvSpPr>
          <p:spPr>
            <a:xfrm>
              <a:off x="0" y="-47625"/>
              <a:ext cx="5179392" cy="67107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4648650">
            <a:off x="11970985" y="-2053884"/>
            <a:ext cx="4632681" cy="5258396"/>
          </a:xfrm>
          <a:custGeom>
            <a:avLst/>
            <a:gdLst/>
            <a:ahLst/>
            <a:cxnLst/>
            <a:rect l="l" t="t" r="r" b="b"/>
            <a:pathLst>
              <a:path w="4632681" h="5258396">
                <a:moveTo>
                  <a:pt x="0" y="0"/>
                </a:moveTo>
                <a:lnTo>
                  <a:pt x="4632680" y="0"/>
                </a:lnTo>
                <a:lnTo>
                  <a:pt x="4632680" y="5258397"/>
                </a:lnTo>
                <a:lnTo>
                  <a:pt x="0" y="5258397"/>
                </a:lnTo>
                <a:lnTo>
                  <a:pt x="0" y="0"/>
                </a:lnTo>
                <a:close/>
              </a:path>
            </a:pathLst>
          </a:custGeom>
          <a:blipFill>
            <a:blip r:embed="rId2">
              <a:alphaModFix amt="48000"/>
              <a:extLst>
                <a:ext uri="{96DAC541-7B7A-43D3-8B79-37D633B846F1}">
                  <asvg:svgBlip xmlns:asvg="http://schemas.microsoft.com/office/drawing/2016/SVG/main" r:embed="rId3"/>
                </a:ext>
              </a:extLst>
            </a:blip>
            <a:stretch>
              <a:fillRect r="-43679"/>
            </a:stretch>
          </a:blipFill>
        </p:spPr>
        <p:txBody>
          <a:bodyPr/>
          <a:lstStyle/>
          <a:p>
            <a:endParaRPr lang="en-SG"/>
          </a:p>
        </p:txBody>
      </p:sp>
      <p:sp>
        <p:nvSpPr>
          <p:cNvPr id="6" name="TextBox 6"/>
          <p:cNvSpPr txBox="1"/>
          <p:nvPr/>
        </p:nvSpPr>
        <p:spPr>
          <a:xfrm>
            <a:off x="829539" y="569916"/>
            <a:ext cx="14640976"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Literary Review(Paper 1)</a:t>
            </a:r>
          </a:p>
        </p:txBody>
      </p:sp>
      <p:sp>
        <p:nvSpPr>
          <p:cNvPr id="7" name="TextBox 7"/>
          <p:cNvSpPr txBox="1"/>
          <p:nvPr/>
        </p:nvSpPr>
        <p:spPr>
          <a:xfrm>
            <a:off x="829539" y="9479091"/>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
        <p:nvSpPr>
          <p:cNvPr id="8" name="AutoShape 8"/>
          <p:cNvSpPr/>
          <p:nvPr/>
        </p:nvSpPr>
        <p:spPr>
          <a:xfrm rot="-4499999">
            <a:off x="12637922" y="9427966"/>
            <a:ext cx="4500396" cy="0"/>
          </a:xfrm>
          <a:prstGeom prst="line">
            <a:avLst/>
          </a:prstGeom>
          <a:ln w="38100" cap="flat">
            <a:solidFill>
              <a:srgbClr val="F3F6FA"/>
            </a:solidFill>
            <a:prstDash val="solid"/>
            <a:headEnd type="none" w="sm" len="sm"/>
            <a:tailEnd type="none" w="sm" len="sm"/>
          </a:ln>
        </p:spPr>
        <p:txBody>
          <a:bodyPr/>
          <a:lstStyle/>
          <a:p>
            <a:endParaRPr lang="en-SG"/>
          </a:p>
        </p:txBody>
      </p:sp>
      <p:sp>
        <p:nvSpPr>
          <p:cNvPr id="9" name="TextBox 9"/>
          <p:cNvSpPr txBox="1"/>
          <p:nvPr/>
        </p:nvSpPr>
        <p:spPr>
          <a:xfrm>
            <a:off x="3508880" y="1730207"/>
            <a:ext cx="11849259" cy="422275"/>
          </a:xfrm>
          <a:prstGeom prst="rect">
            <a:avLst/>
          </a:prstGeom>
        </p:spPr>
        <p:txBody>
          <a:bodyPr lIns="0" tIns="0" rIns="0" bIns="0" rtlCol="0" anchor="t">
            <a:spAutoFit/>
          </a:bodyPr>
          <a:lstStyle/>
          <a:p>
            <a:pPr algn="l">
              <a:lnSpc>
                <a:spcPts val="3499"/>
              </a:lnSpc>
            </a:pPr>
            <a:endParaRPr/>
          </a:p>
        </p:txBody>
      </p:sp>
      <p:graphicFrame>
        <p:nvGraphicFramePr>
          <p:cNvPr id="10" name="Table 10"/>
          <p:cNvGraphicFramePr>
            <a:graphicFrameLocks noGrp="1"/>
          </p:cNvGraphicFramePr>
          <p:nvPr/>
        </p:nvGraphicFramePr>
        <p:xfrm>
          <a:off x="80016" y="1659066"/>
          <a:ext cx="17637500" cy="7553325"/>
        </p:xfrm>
        <a:graphic>
          <a:graphicData uri="http://schemas.openxmlformats.org/drawingml/2006/table">
            <a:tbl>
              <a:tblPr/>
              <a:tblGrid>
                <a:gridCol w="2732635">
                  <a:extLst>
                    <a:ext uri="{9D8B030D-6E8A-4147-A177-3AD203B41FA5}">
                      <a16:colId xmlns:a16="http://schemas.microsoft.com/office/drawing/2014/main" val="20000"/>
                    </a:ext>
                  </a:extLst>
                </a:gridCol>
                <a:gridCol w="5046648">
                  <a:extLst>
                    <a:ext uri="{9D8B030D-6E8A-4147-A177-3AD203B41FA5}">
                      <a16:colId xmlns:a16="http://schemas.microsoft.com/office/drawing/2014/main" val="20001"/>
                    </a:ext>
                  </a:extLst>
                </a:gridCol>
                <a:gridCol w="2785288">
                  <a:extLst>
                    <a:ext uri="{9D8B030D-6E8A-4147-A177-3AD203B41FA5}">
                      <a16:colId xmlns:a16="http://schemas.microsoft.com/office/drawing/2014/main" val="20002"/>
                    </a:ext>
                  </a:extLst>
                </a:gridCol>
                <a:gridCol w="2450436">
                  <a:extLst>
                    <a:ext uri="{9D8B030D-6E8A-4147-A177-3AD203B41FA5}">
                      <a16:colId xmlns:a16="http://schemas.microsoft.com/office/drawing/2014/main" val="20003"/>
                    </a:ext>
                  </a:extLst>
                </a:gridCol>
                <a:gridCol w="4622493">
                  <a:extLst>
                    <a:ext uri="{9D8B030D-6E8A-4147-A177-3AD203B41FA5}">
                      <a16:colId xmlns:a16="http://schemas.microsoft.com/office/drawing/2014/main" val="20004"/>
                    </a:ext>
                  </a:extLst>
                </a:gridCol>
              </a:tblGrid>
              <a:tr h="1003923">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Paper &amp;</a:t>
                      </a:r>
                      <a:endParaRPr lang="en-US" sz="1100"/>
                    </a:p>
                    <a:p>
                      <a:pPr algn="ctr">
                        <a:lnSpc>
                          <a:spcPts val="2240"/>
                        </a:lnSpc>
                      </a:pPr>
                      <a:r>
                        <a:rPr lang="en-US" sz="1600" b="1">
                          <a:solidFill>
                            <a:srgbClr val="000000"/>
                          </a:solidFill>
                          <a:latin typeface="Canva Sans Bold"/>
                          <a:ea typeface="Canva Sans Bold"/>
                          <a:cs typeface="Canva Sans Bold"/>
                          <a:sym typeface="Canva Sans Bold"/>
                        </a:rPr>
                        <a:t>Publication Year</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Methodology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Datasets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Accuracy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Limitations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549402">
                <a:tc>
                  <a:txBody>
                    <a:bodyPr/>
                    <a:lstStyle/>
                    <a:p>
                      <a:pPr algn="l">
                        <a:lnSpc>
                          <a:spcPts val="2659"/>
                        </a:lnSpc>
                        <a:defRPr/>
                      </a:pPr>
                      <a:r>
                        <a:rPr lang="en-US" sz="1899" b="1">
                          <a:solidFill>
                            <a:srgbClr val="000000"/>
                          </a:solidFill>
                          <a:latin typeface="Canva Sans Bold"/>
                          <a:ea typeface="Canva Sans Bold"/>
                          <a:cs typeface="Canva Sans Bold"/>
                          <a:sym typeface="Canva Sans Bold"/>
                        </a:rPr>
                        <a:t>Title</a:t>
                      </a:r>
                      <a:r>
                        <a:rPr lang="en-US" sz="1899">
                          <a:solidFill>
                            <a:srgbClr val="000000"/>
                          </a:solidFill>
                          <a:latin typeface="Canva Sans"/>
                          <a:ea typeface="Canva Sans"/>
                          <a:cs typeface="Canva Sans"/>
                          <a:sym typeface="Canva Sans"/>
                        </a:rPr>
                        <a:t>: Comparison of YOLO Algorithms for Vehicle Accident Detection and Classification</a:t>
                      </a:r>
                      <a:endParaRPr lang="en-US" sz="1100"/>
                    </a:p>
                    <a:p>
                      <a:pPr algn="l">
                        <a:lnSpc>
                          <a:spcPts val="2659"/>
                        </a:lnSpc>
                      </a:pPr>
                      <a:endParaRPr lang="en-US" sz="1100"/>
                    </a:p>
                    <a:p>
                      <a:pPr algn="l">
                        <a:lnSpc>
                          <a:spcPts val="2659"/>
                        </a:lnSpc>
                      </a:pPr>
                      <a:r>
                        <a:rPr lang="en-US" sz="1899" b="1">
                          <a:solidFill>
                            <a:srgbClr val="000000"/>
                          </a:solidFill>
                          <a:latin typeface="Canva Sans Bold"/>
                          <a:ea typeface="Canva Sans Bold"/>
                          <a:cs typeface="Canva Sans Bold"/>
                          <a:sym typeface="Canva Sans Bold"/>
                        </a:rPr>
                        <a:t>Authors</a:t>
                      </a:r>
                      <a:r>
                        <a:rPr lang="en-US" sz="1899">
                          <a:solidFill>
                            <a:srgbClr val="000000"/>
                          </a:solidFill>
                          <a:latin typeface="Canva Sans"/>
                          <a:ea typeface="Canva Sans"/>
                          <a:cs typeface="Canva Sans"/>
                          <a:sym typeface="Canva Sans"/>
                        </a:rPr>
                        <a:t>: Ahmed N. Nusari, Abdulfattah E. Ba Alawi, Ferhat Bozkurt, İbrahim Yücel Özbek</a:t>
                      </a:r>
                    </a:p>
                    <a:p>
                      <a:pPr algn="l">
                        <a:lnSpc>
                          <a:spcPts val="2659"/>
                        </a:lnSpc>
                      </a:pPr>
                      <a:endParaRPr lang="en-US" sz="1899">
                        <a:solidFill>
                          <a:srgbClr val="000000"/>
                        </a:solidFill>
                        <a:latin typeface="Canva Sans"/>
                        <a:ea typeface="Canva Sans"/>
                        <a:cs typeface="Canva Sans"/>
                        <a:sym typeface="Canva Sans"/>
                      </a:endParaRPr>
                    </a:p>
                    <a:p>
                      <a:pPr algn="l">
                        <a:lnSpc>
                          <a:spcPts val="2659"/>
                        </a:lnSpc>
                      </a:pPr>
                      <a:r>
                        <a:rPr lang="en-US" sz="1899" b="1">
                          <a:solidFill>
                            <a:srgbClr val="000000"/>
                          </a:solidFill>
                          <a:latin typeface="Canva Sans Bold"/>
                          <a:ea typeface="Canva Sans Bold"/>
                          <a:cs typeface="Canva Sans Bold"/>
                          <a:sym typeface="Canva Sans Bold"/>
                        </a:rPr>
                        <a:t>Publication Year</a:t>
                      </a:r>
                      <a:r>
                        <a:rPr lang="en-US" sz="1899">
                          <a:solidFill>
                            <a:srgbClr val="000000"/>
                          </a:solidFill>
                          <a:latin typeface="Canva Sans"/>
                          <a:ea typeface="Canva Sans"/>
                          <a:cs typeface="Canva Sans"/>
                          <a:sym typeface="Canva Sans"/>
                        </a:rPr>
                        <a:t>: 2024</a:t>
                      </a:r>
                    </a:p>
                    <a:p>
                      <a:pPr algn="l">
                        <a:lnSpc>
                          <a:spcPts val="2659"/>
                        </a:lnSpc>
                      </a:pPr>
                      <a:endParaRPr lang="en-US" sz="1899">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45441" lvl="1" indent="-172721" algn="l">
                        <a:lnSpc>
                          <a:spcPts val="2240"/>
                        </a:lnSpc>
                        <a:buFont typeface="Arial"/>
                        <a:buChar char="•"/>
                        <a:defRPr/>
                      </a:pPr>
                      <a:r>
                        <a:rPr lang="en-US" sz="1600" b="1">
                          <a:solidFill>
                            <a:srgbClr val="000000"/>
                          </a:solidFill>
                          <a:latin typeface="Canva Sans Bold"/>
                          <a:ea typeface="Canva Sans Bold"/>
                          <a:cs typeface="Canva Sans Bold"/>
                          <a:sym typeface="Canva Sans Bold"/>
                        </a:rPr>
                        <a:t>Dataset Collection</a:t>
                      </a:r>
                      <a:r>
                        <a:rPr lang="en-US" sz="1600">
                          <a:solidFill>
                            <a:srgbClr val="000000"/>
                          </a:solidFill>
                          <a:latin typeface="Canva Sans"/>
                          <a:ea typeface="Canva Sans"/>
                          <a:cs typeface="Canva Sans"/>
                          <a:sym typeface="Canva Sans"/>
                        </a:rPr>
                        <a:t>: 12,122 labeled images of vehicles and accidents from real and simulated scenarios.</a:t>
                      </a:r>
                      <a:endParaRPr lang="en-US" sz="1100"/>
                    </a:p>
                    <a:p>
                      <a:pPr marL="345441" lvl="1" indent="-172721" algn="l">
                        <a:lnSpc>
                          <a:spcPts val="2240"/>
                        </a:lnSpc>
                        <a:buFont typeface="Arial"/>
                        <a:buChar char="•"/>
                      </a:pPr>
                      <a:r>
                        <a:rPr lang="en-US" sz="1600" b="1">
                          <a:solidFill>
                            <a:srgbClr val="000000"/>
                          </a:solidFill>
                          <a:latin typeface="Canva Sans Bold"/>
                          <a:ea typeface="Canva Sans Bold"/>
                          <a:cs typeface="Canva Sans Bold"/>
                          <a:sym typeface="Canva Sans Bold"/>
                        </a:rPr>
                        <a:t>Data Preprocessing</a:t>
                      </a:r>
                      <a:r>
                        <a:rPr lang="en-US" sz="1600">
                          <a:solidFill>
                            <a:srgbClr val="000000"/>
                          </a:solidFill>
                          <a:latin typeface="Canva Sans"/>
                          <a:ea typeface="Canva Sans"/>
                          <a:cs typeface="Canva Sans"/>
                          <a:sym typeface="Canva Sans"/>
                        </a:rPr>
                        <a:t>: Images resized to 640x640px with augmentations like noise, brightness adjustment, grayscale conversion, and blur to improve model robustness.</a:t>
                      </a:r>
                    </a:p>
                    <a:p>
                      <a:pPr marL="345441" lvl="1" indent="-172721" algn="l">
                        <a:lnSpc>
                          <a:spcPts val="2240"/>
                        </a:lnSpc>
                        <a:buFont typeface="Arial"/>
                        <a:buChar char="•"/>
                      </a:pPr>
                      <a:r>
                        <a:rPr lang="en-US" sz="1600" b="1">
                          <a:solidFill>
                            <a:srgbClr val="000000"/>
                          </a:solidFill>
                          <a:latin typeface="Canva Sans Bold"/>
                          <a:ea typeface="Canva Sans Bold"/>
                          <a:cs typeface="Canva Sans Bold"/>
                          <a:sym typeface="Canva Sans Bold"/>
                        </a:rPr>
                        <a:t>Model Training:</a:t>
                      </a:r>
                      <a:r>
                        <a:rPr lang="en-US" sz="1600">
                          <a:solidFill>
                            <a:srgbClr val="000000"/>
                          </a:solidFill>
                          <a:latin typeface="Canva Sans"/>
                          <a:ea typeface="Canva Sans"/>
                          <a:cs typeface="Canva Sans"/>
                          <a:sym typeface="Canva Sans"/>
                        </a:rPr>
                        <a:t> Fine-tuned multiple YOLO models (YOLOv6, YOLOv7, YOLOv8, YOLOv9) with adjusted hyperparameters like learning rate, batch size, and anchor boxes.</a:t>
                      </a:r>
                    </a:p>
                    <a:p>
                      <a:pPr marL="345441" lvl="1" indent="-172721" algn="l">
                        <a:lnSpc>
                          <a:spcPts val="2240"/>
                        </a:lnSpc>
                        <a:buFont typeface="Arial"/>
                        <a:buChar char="•"/>
                      </a:pPr>
                      <a:r>
                        <a:rPr lang="en-US" sz="1600" b="1">
                          <a:solidFill>
                            <a:srgbClr val="000000"/>
                          </a:solidFill>
                          <a:latin typeface="Canva Sans Bold"/>
                          <a:ea typeface="Canva Sans Bold"/>
                          <a:cs typeface="Canva Sans Bold"/>
                          <a:sym typeface="Canva Sans Bold"/>
                        </a:rPr>
                        <a:t>Model Evaluation</a:t>
                      </a:r>
                      <a:r>
                        <a:rPr lang="en-US" sz="1600">
                          <a:solidFill>
                            <a:srgbClr val="000000"/>
                          </a:solidFill>
                          <a:latin typeface="Canva Sans"/>
                          <a:ea typeface="Canva Sans"/>
                          <a:cs typeface="Canva Sans"/>
                          <a:sym typeface="Canva Sans"/>
                        </a:rPr>
                        <a:t>: Used Precision, Recall, mAP50, and mAP50-95 to assess each model's effectiveness in detecting vehicle accidents.</a:t>
                      </a:r>
                    </a:p>
                    <a:p>
                      <a:pPr marL="345441" lvl="1" indent="-172721" algn="l">
                        <a:lnSpc>
                          <a:spcPts val="2240"/>
                        </a:lnSpc>
                        <a:buFont typeface="Arial"/>
                        <a:buChar char="•"/>
                      </a:pPr>
                      <a:r>
                        <a:rPr lang="en-US" sz="1600" b="1">
                          <a:solidFill>
                            <a:srgbClr val="000000"/>
                          </a:solidFill>
                          <a:latin typeface="Canva Sans Bold"/>
                          <a:ea typeface="Canva Sans Bold"/>
                          <a:cs typeface="Canva Sans Bold"/>
                          <a:sym typeface="Canva Sans Bold"/>
                        </a:rPr>
                        <a:t>Comparison of Models</a:t>
                      </a:r>
                      <a:r>
                        <a:rPr lang="en-US" sz="1600">
                          <a:solidFill>
                            <a:srgbClr val="000000"/>
                          </a:solidFill>
                          <a:latin typeface="Canva Sans"/>
                          <a:ea typeface="Canva Sans"/>
                          <a:cs typeface="Canva Sans"/>
                          <a:sym typeface="Canva Sans"/>
                        </a:rPr>
                        <a:t>: Compared the YOLO models based on precision, recall, and mAP for both moderate and severe accidents.</a:t>
                      </a:r>
                    </a:p>
                    <a:p>
                      <a:pPr algn="l">
                        <a:lnSpc>
                          <a:spcPts val="2240"/>
                        </a:lnSpc>
                      </a:pPr>
                      <a:endParaRPr lang="en-US" sz="16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a:solidFill>
                            <a:srgbClr val="000000"/>
                          </a:solidFill>
                          <a:latin typeface="Canva Sans"/>
                          <a:ea typeface="Canva Sans"/>
                          <a:cs typeface="Canva Sans"/>
                          <a:sym typeface="Canva Sans"/>
                        </a:rPr>
                        <a:t>12,122 </a:t>
                      </a:r>
                      <a:r>
                        <a:rPr lang="en-US" sz="1800" b="1">
                          <a:solidFill>
                            <a:srgbClr val="000000"/>
                          </a:solidFill>
                          <a:latin typeface="Canva Sans Bold"/>
                          <a:ea typeface="Canva Sans Bold"/>
                          <a:cs typeface="Canva Sans Bold"/>
                          <a:sym typeface="Canva Sans Bold"/>
                        </a:rPr>
                        <a:t>labeled </a:t>
                      </a:r>
                      <a:r>
                        <a:rPr lang="en-US" sz="1800">
                          <a:solidFill>
                            <a:srgbClr val="000000"/>
                          </a:solidFill>
                          <a:latin typeface="Canva Sans"/>
                          <a:ea typeface="Canva Sans"/>
                          <a:cs typeface="Canva Sans"/>
                          <a:sym typeface="Canva Sans"/>
                        </a:rPr>
                        <a:t>images of vehicles and accidents, including both moderate and severe accidents, sourced from real-world and simulated scenarios.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520"/>
                        </a:lnSpc>
                        <a:buFont typeface="Arial"/>
                        <a:buChar char="•"/>
                        <a:defRPr/>
                      </a:pPr>
                      <a:r>
                        <a:rPr lang="en-US" sz="1800">
                          <a:solidFill>
                            <a:srgbClr val="000000"/>
                          </a:solidFill>
                          <a:latin typeface="Canva Sans"/>
                          <a:ea typeface="Canva Sans"/>
                          <a:cs typeface="Canva Sans"/>
                          <a:sym typeface="Canva Sans"/>
                        </a:rPr>
                        <a:t>YOLOv8  precision (0.979) and recall (0.927).</a:t>
                      </a:r>
                      <a:endParaRPr lang="en-US" sz="1100"/>
                    </a:p>
                    <a:p>
                      <a:pPr marL="388620" lvl="1" indent="-194310" algn="l">
                        <a:lnSpc>
                          <a:spcPts val="2520"/>
                        </a:lnSpc>
                        <a:buFont typeface="Arial"/>
                        <a:buChar char="•"/>
                      </a:pPr>
                      <a:r>
                        <a:rPr lang="en-US" sz="1800">
                          <a:solidFill>
                            <a:srgbClr val="000000"/>
                          </a:solidFill>
                          <a:latin typeface="Canva Sans"/>
                          <a:ea typeface="Canva Sans"/>
                          <a:cs typeface="Canva Sans"/>
                          <a:sym typeface="Canva Sans"/>
                        </a:rPr>
                        <a:t>YOLOv9c  mAP50 with a score of 0.977.</a:t>
                      </a:r>
                    </a:p>
                    <a:p>
                      <a:pPr marL="388620" lvl="1" indent="-194310" algn="l">
                        <a:lnSpc>
                          <a:spcPts val="2520"/>
                        </a:lnSpc>
                        <a:buFont typeface="Arial"/>
                        <a:buChar char="•"/>
                      </a:pPr>
                      <a:r>
                        <a:rPr lang="en-US" sz="1800">
                          <a:solidFill>
                            <a:srgbClr val="000000"/>
                          </a:solidFill>
                          <a:latin typeface="Canva Sans"/>
                          <a:ea typeface="Canva Sans"/>
                          <a:cs typeface="Canva Sans"/>
                          <a:sym typeface="Canva Sans"/>
                        </a:rPr>
                        <a:t>YOLOv9e achieved the best mAP50-95 score of 0.941,</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520"/>
                        </a:lnSpc>
                        <a:buFont typeface="Arial"/>
                        <a:buChar char="•"/>
                        <a:defRPr/>
                      </a:pPr>
                      <a:r>
                        <a:rPr lang="en-US" sz="1800" b="1">
                          <a:solidFill>
                            <a:srgbClr val="000000"/>
                          </a:solidFill>
                          <a:latin typeface="Canva Sans Bold"/>
                          <a:ea typeface="Canva Sans Bold"/>
                          <a:cs typeface="Canva Sans Bold"/>
                          <a:sym typeface="Canva Sans Bold"/>
                        </a:rPr>
                        <a:t>Computational Complexity</a:t>
                      </a:r>
                      <a:r>
                        <a:rPr lang="en-US" sz="1800">
                          <a:solidFill>
                            <a:srgbClr val="000000"/>
                          </a:solidFill>
                          <a:latin typeface="Canva Sans"/>
                          <a:ea typeface="Canva Sans"/>
                          <a:cs typeface="Canva Sans"/>
                          <a:sym typeface="Canva Sans"/>
                        </a:rPr>
                        <a:t>: High-precision models like YOLOv9 may require powerful hardware for real-time deployment.</a:t>
                      </a:r>
                      <a:endParaRPr lang="en-US" sz="1100"/>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Data Quality</a:t>
                      </a:r>
                      <a:r>
                        <a:rPr lang="en-US" sz="1800">
                          <a:solidFill>
                            <a:srgbClr val="000000"/>
                          </a:solidFill>
                          <a:latin typeface="Canva Sans"/>
                          <a:ea typeface="Canva Sans"/>
                          <a:cs typeface="Canva Sans"/>
                          <a:sym typeface="Canva Sans"/>
                        </a:rPr>
                        <a:t>: The system's performance can be affected by low-quality or noisy images in the dataset.</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Edge Conditions</a:t>
                      </a:r>
                      <a:r>
                        <a:rPr lang="en-US" sz="1800">
                          <a:solidFill>
                            <a:srgbClr val="000000"/>
                          </a:solidFill>
                          <a:latin typeface="Canva Sans"/>
                          <a:ea typeface="Canva Sans"/>
                          <a:cs typeface="Canva Sans"/>
                          <a:sym typeface="Canva Sans"/>
                        </a:rPr>
                        <a:t>: The model may struggle with poor lighting or adverse weather conditions, reducing detection accuracy.</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592764" y="9236393"/>
            <a:ext cx="19665504" cy="2389078"/>
            <a:chOff x="0" y="0"/>
            <a:chExt cx="5179392" cy="629222"/>
          </a:xfrm>
        </p:grpSpPr>
        <p:sp>
          <p:nvSpPr>
            <p:cNvPr id="3" name="Freeform 3"/>
            <p:cNvSpPr/>
            <p:nvPr/>
          </p:nvSpPr>
          <p:spPr>
            <a:xfrm>
              <a:off x="0" y="0"/>
              <a:ext cx="5179392" cy="629222"/>
            </a:xfrm>
            <a:custGeom>
              <a:avLst/>
              <a:gdLst/>
              <a:ahLst/>
              <a:cxnLst/>
              <a:rect l="l" t="t" r="r" b="b"/>
              <a:pathLst>
                <a:path w="5179392" h="629222">
                  <a:moveTo>
                    <a:pt x="0" y="0"/>
                  </a:moveTo>
                  <a:lnTo>
                    <a:pt x="5179392" y="0"/>
                  </a:lnTo>
                  <a:lnTo>
                    <a:pt x="5179392" y="629222"/>
                  </a:lnTo>
                  <a:lnTo>
                    <a:pt x="0" y="629222"/>
                  </a:lnTo>
                  <a:close/>
                </a:path>
              </a:pathLst>
            </a:custGeom>
            <a:solidFill>
              <a:srgbClr val="0B1320"/>
            </a:solidFill>
          </p:spPr>
          <p:txBody>
            <a:bodyPr/>
            <a:lstStyle/>
            <a:p>
              <a:endParaRPr lang="en-SG"/>
            </a:p>
          </p:txBody>
        </p:sp>
        <p:sp>
          <p:nvSpPr>
            <p:cNvPr id="4" name="TextBox 4"/>
            <p:cNvSpPr txBox="1"/>
            <p:nvPr/>
          </p:nvSpPr>
          <p:spPr>
            <a:xfrm>
              <a:off x="0" y="-47625"/>
              <a:ext cx="5179392" cy="67684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4648650">
            <a:off x="11970985" y="-2053884"/>
            <a:ext cx="4632681" cy="5258396"/>
          </a:xfrm>
          <a:custGeom>
            <a:avLst/>
            <a:gdLst/>
            <a:ahLst/>
            <a:cxnLst/>
            <a:rect l="l" t="t" r="r" b="b"/>
            <a:pathLst>
              <a:path w="4632681" h="5258396">
                <a:moveTo>
                  <a:pt x="0" y="0"/>
                </a:moveTo>
                <a:lnTo>
                  <a:pt x="4632680" y="0"/>
                </a:lnTo>
                <a:lnTo>
                  <a:pt x="4632680" y="5258397"/>
                </a:lnTo>
                <a:lnTo>
                  <a:pt x="0" y="5258397"/>
                </a:lnTo>
                <a:lnTo>
                  <a:pt x="0" y="0"/>
                </a:lnTo>
                <a:close/>
              </a:path>
            </a:pathLst>
          </a:custGeom>
          <a:blipFill>
            <a:blip r:embed="rId2">
              <a:alphaModFix amt="48000"/>
              <a:extLst>
                <a:ext uri="{96DAC541-7B7A-43D3-8B79-37D633B846F1}">
                  <asvg:svgBlip xmlns:asvg="http://schemas.microsoft.com/office/drawing/2016/SVG/main" r:embed="rId3"/>
                </a:ext>
              </a:extLst>
            </a:blip>
            <a:stretch>
              <a:fillRect r="-43679"/>
            </a:stretch>
          </a:blipFill>
        </p:spPr>
        <p:txBody>
          <a:bodyPr/>
          <a:lstStyle/>
          <a:p>
            <a:endParaRPr lang="en-SG"/>
          </a:p>
        </p:txBody>
      </p:sp>
      <p:sp>
        <p:nvSpPr>
          <p:cNvPr id="6" name="TextBox 6"/>
          <p:cNvSpPr txBox="1"/>
          <p:nvPr/>
        </p:nvSpPr>
        <p:spPr>
          <a:xfrm>
            <a:off x="829539" y="569916"/>
            <a:ext cx="14640976"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Literary Review(Paper 2)</a:t>
            </a:r>
          </a:p>
        </p:txBody>
      </p:sp>
      <p:sp>
        <p:nvSpPr>
          <p:cNvPr id="7" name="AutoShape 7"/>
          <p:cNvSpPr/>
          <p:nvPr/>
        </p:nvSpPr>
        <p:spPr>
          <a:xfrm rot="-4499999">
            <a:off x="12637922" y="9427966"/>
            <a:ext cx="4500396" cy="0"/>
          </a:xfrm>
          <a:prstGeom prst="line">
            <a:avLst/>
          </a:prstGeom>
          <a:ln w="38100" cap="flat">
            <a:solidFill>
              <a:srgbClr val="F3F6FA"/>
            </a:solidFill>
            <a:prstDash val="solid"/>
            <a:headEnd type="none" w="sm" len="sm"/>
            <a:tailEnd type="none" w="sm" len="sm"/>
          </a:ln>
        </p:spPr>
        <p:txBody>
          <a:bodyPr/>
          <a:lstStyle/>
          <a:p>
            <a:endParaRPr lang="en-SG"/>
          </a:p>
        </p:txBody>
      </p:sp>
      <p:sp>
        <p:nvSpPr>
          <p:cNvPr id="8" name="TextBox 8"/>
          <p:cNvSpPr txBox="1"/>
          <p:nvPr/>
        </p:nvSpPr>
        <p:spPr>
          <a:xfrm>
            <a:off x="3508880" y="1730207"/>
            <a:ext cx="11849259" cy="422275"/>
          </a:xfrm>
          <a:prstGeom prst="rect">
            <a:avLst/>
          </a:prstGeom>
        </p:spPr>
        <p:txBody>
          <a:bodyPr lIns="0" tIns="0" rIns="0" bIns="0" rtlCol="0" anchor="t">
            <a:spAutoFit/>
          </a:bodyPr>
          <a:lstStyle/>
          <a:p>
            <a:pPr algn="l">
              <a:lnSpc>
                <a:spcPts val="3499"/>
              </a:lnSpc>
            </a:pPr>
            <a:endParaRPr/>
          </a:p>
        </p:txBody>
      </p:sp>
      <p:graphicFrame>
        <p:nvGraphicFramePr>
          <p:cNvPr id="9" name="Table 9"/>
          <p:cNvGraphicFramePr>
            <a:graphicFrameLocks noGrp="1"/>
          </p:cNvGraphicFramePr>
          <p:nvPr/>
        </p:nvGraphicFramePr>
        <p:xfrm>
          <a:off x="80016" y="1659066"/>
          <a:ext cx="18207983" cy="7133117"/>
        </p:xfrm>
        <a:graphic>
          <a:graphicData uri="http://schemas.openxmlformats.org/drawingml/2006/table">
            <a:tbl>
              <a:tblPr/>
              <a:tblGrid>
                <a:gridCol w="3267889">
                  <a:extLst>
                    <a:ext uri="{9D8B030D-6E8A-4147-A177-3AD203B41FA5}">
                      <a16:colId xmlns:a16="http://schemas.microsoft.com/office/drawing/2014/main" val="20000"/>
                    </a:ext>
                  </a:extLst>
                </a:gridCol>
                <a:gridCol w="5563170">
                  <a:extLst>
                    <a:ext uri="{9D8B030D-6E8A-4147-A177-3AD203B41FA5}">
                      <a16:colId xmlns:a16="http://schemas.microsoft.com/office/drawing/2014/main" val="20001"/>
                    </a:ext>
                  </a:extLst>
                </a:gridCol>
                <a:gridCol w="2785146">
                  <a:extLst>
                    <a:ext uri="{9D8B030D-6E8A-4147-A177-3AD203B41FA5}">
                      <a16:colId xmlns:a16="http://schemas.microsoft.com/office/drawing/2014/main" val="20002"/>
                    </a:ext>
                  </a:extLst>
                </a:gridCol>
                <a:gridCol w="2495606">
                  <a:extLst>
                    <a:ext uri="{9D8B030D-6E8A-4147-A177-3AD203B41FA5}">
                      <a16:colId xmlns:a16="http://schemas.microsoft.com/office/drawing/2014/main" val="20003"/>
                    </a:ext>
                  </a:extLst>
                </a:gridCol>
                <a:gridCol w="4096172">
                  <a:extLst>
                    <a:ext uri="{9D8B030D-6E8A-4147-A177-3AD203B41FA5}">
                      <a16:colId xmlns:a16="http://schemas.microsoft.com/office/drawing/2014/main" val="20004"/>
                    </a:ext>
                  </a:extLst>
                </a:gridCol>
              </a:tblGrid>
              <a:tr h="1004148">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Paper &amp;</a:t>
                      </a:r>
                      <a:endParaRPr lang="en-US" sz="1100"/>
                    </a:p>
                    <a:p>
                      <a:pPr algn="ctr">
                        <a:lnSpc>
                          <a:spcPts val="2240"/>
                        </a:lnSpc>
                      </a:pPr>
                      <a:r>
                        <a:rPr lang="en-US" sz="1600" b="1">
                          <a:solidFill>
                            <a:srgbClr val="000000"/>
                          </a:solidFill>
                          <a:latin typeface="Canva Sans Bold"/>
                          <a:ea typeface="Canva Sans Bold"/>
                          <a:cs typeface="Canva Sans Bold"/>
                          <a:sym typeface="Canva Sans Bold"/>
                        </a:rPr>
                        <a:t>Publication Year</a:t>
                      </a:r>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Methodology</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Datasets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Accuracy</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Limitations</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128969">
                <a:tc>
                  <a:txBody>
                    <a:bodyPr/>
                    <a:lstStyle/>
                    <a:p>
                      <a:pPr algn="l">
                        <a:lnSpc>
                          <a:spcPts val="2621"/>
                        </a:lnSpc>
                        <a:defRPr/>
                      </a:pPr>
                      <a:r>
                        <a:rPr lang="en-US" sz="1899" b="1">
                          <a:solidFill>
                            <a:srgbClr val="000000"/>
                          </a:solidFill>
                          <a:latin typeface="Canva Sans Bold"/>
                          <a:ea typeface="Canva Sans Bold"/>
                          <a:cs typeface="Canva Sans Bold"/>
                          <a:sym typeface="Canva Sans Bold"/>
                        </a:rPr>
                        <a:t>Title</a:t>
                      </a:r>
                      <a:r>
                        <a:rPr lang="en-US" sz="1899">
                          <a:solidFill>
                            <a:srgbClr val="000000"/>
                          </a:solidFill>
                          <a:latin typeface="Canva Sans"/>
                          <a:ea typeface="Canva Sans"/>
                          <a:cs typeface="Canva Sans"/>
                          <a:sym typeface="Canva Sans"/>
                        </a:rPr>
                        <a:t>: Accident Detection System Using YOLOv8 and CNN Algorithm</a:t>
                      </a:r>
                      <a:endParaRPr lang="en-US" sz="1100"/>
                    </a:p>
                    <a:p>
                      <a:pPr algn="l">
                        <a:lnSpc>
                          <a:spcPts val="2621"/>
                        </a:lnSpc>
                      </a:pPr>
                      <a:endParaRPr lang="en-US" sz="1100"/>
                    </a:p>
                    <a:p>
                      <a:pPr algn="l">
                        <a:lnSpc>
                          <a:spcPts val="2621"/>
                        </a:lnSpc>
                      </a:pPr>
                      <a:r>
                        <a:rPr lang="en-US" sz="1899" b="1">
                          <a:solidFill>
                            <a:srgbClr val="000000"/>
                          </a:solidFill>
                          <a:latin typeface="Canva Sans Bold"/>
                          <a:ea typeface="Canva Sans Bold"/>
                          <a:cs typeface="Canva Sans Bold"/>
                          <a:sym typeface="Canva Sans Bold"/>
                        </a:rPr>
                        <a:t>Authors</a:t>
                      </a:r>
                      <a:r>
                        <a:rPr lang="en-US" sz="1899">
                          <a:solidFill>
                            <a:srgbClr val="000000"/>
                          </a:solidFill>
                          <a:latin typeface="Canva Sans"/>
                          <a:ea typeface="Canva Sans"/>
                          <a:cs typeface="Canva Sans"/>
                          <a:sym typeface="Canva Sans"/>
                        </a:rPr>
                        <a:t>: Aadarsh Darokar, Akanksha Talware, Amit Jadhav, Darshana Guntiwar, Swati Dandhare, Devendra Dandekar</a:t>
                      </a:r>
                    </a:p>
                    <a:p>
                      <a:pPr algn="l">
                        <a:lnSpc>
                          <a:spcPts val="2621"/>
                        </a:lnSpc>
                      </a:pPr>
                      <a:endParaRPr lang="en-US" sz="1899">
                        <a:solidFill>
                          <a:srgbClr val="000000"/>
                        </a:solidFill>
                        <a:latin typeface="Canva Sans"/>
                        <a:ea typeface="Canva Sans"/>
                        <a:cs typeface="Canva Sans"/>
                        <a:sym typeface="Canva Sans"/>
                      </a:endParaRPr>
                    </a:p>
                    <a:p>
                      <a:pPr algn="l">
                        <a:lnSpc>
                          <a:spcPts val="2621"/>
                        </a:lnSpc>
                      </a:pPr>
                      <a:r>
                        <a:rPr lang="en-US" sz="1899" b="1">
                          <a:solidFill>
                            <a:srgbClr val="000000"/>
                          </a:solidFill>
                          <a:latin typeface="Canva Sans Bold"/>
                          <a:ea typeface="Canva Sans Bold"/>
                          <a:cs typeface="Canva Sans Bold"/>
                          <a:sym typeface="Canva Sans Bold"/>
                        </a:rPr>
                        <a:t>Publication Year</a:t>
                      </a:r>
                      <a:r>
                        <a:rPr lang="en-US" sz="1899">
                          <a:solidFill>
                            <a:srgbClr val="000000"/>
                          </a:solidFill>
                          <a:latin typeface="Canva Sans"/>
                          <a:ea typeface="Canva Sans"/>
                          <a:cs typeface="Canva Sans"/>
                          <a:sym typeface="Canva Sans"/>
                        </a:rPr>
                        <a:t>: 2023</a:t>
                      </a:r>
                    </a:p>
                    <a:p>
                      <a:pPr algn="l">
                        <a:lnSpc>
                          <a:spcPts val="2621"/>
                        </a:lnSpc>
                      </a:pPr>
                      <a:endParaRPr lang="en-US" sz="1899">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45441" lvl="1" indent="-172721" algn="l">
                        <a:lnSpc>
                          <a:spcPts val="2208"/>
                        </a:lnSpc>
                        <a:buFont typeface="Arial"/>
                        <a:buChar char="•"/>
                        <a:defRPr/>
                      </a:pPr>
                      <a:r>
                        <a:rPr lang="en-US" sz="1600" b="1">
                          <a:solidFill>
                            <a:srgbClr val="000000"/>
                          </a:solidFill>
                          <a:latin typeface="Canva Sans Bold"/>
                          <a:ea typeface="Canva Sans Bold"/>
                          <a:cs typeface="Canva Sans Bold"/>
                          <a:sym typeface="Canva Sans Bold"/>
                        </a:rPr>
                        <a:t>Data Collection</a:t>
                      </a:r>
                      <a:r>
                        <a:rPr lang="en-US" sz="1600">
                          <a:solidFill>
                            <a:srgbClr val="000000"/>
                          </a:solidFill>
                          <a:latin typeface="Canva Sans"/>
                          <a:ea typeface="Canva Sans"/>
                          <a:cs typeface="Canva Sans"/>
                          <a:sym typeface="Canva Sans"/>
                        </a:rPr>
                        <a:t>: Gather video from road cameras at highways and intersections.</a:t>
                      </a:r>
                      <a:endParaRPr lang="en-US" sz="1100"/>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Preprocessing</a:t>
                      </a:r>
                      <a:r>
                        <a:rPr lang="en-US" sz="1600">
                          <a:solidFill>
                            <a:srgbClr val="000000"/>
                          </a:solidFill>
                          <a:latin typeface="Canva Sans"/>
                          <a:ea typeface="Canva Sans"/>
                          <a:cs typeface="Canva Sans"/>
                          <a:sym typeface="Canva Sans"/>
                        </a:rPr>
                        <a:t>: Resize, normalize, and augment frames for model input.</a:t>
                      </a:r>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YOLOv8 Configuration</a:t>
                      </a:r>
                      <a:r>
                        <a:rPr lang="en-US" sz="1600">
                          <a:solidFill>
                            <a:srgbClr val="000000"/>
                          </a:solidFill>
                          <a:latin typeface="Canva Sans"/>
                          <a:ea typeface="Canva Sans"/>
                          <a:cs typeface="Canva Sans"/>
                          <a:sym typeface="Canva Sans"/>
                        </a:rPr>
                        <a:t>: Use CSPDarknet53 for feature extraction and fine-tune with labeled accident data.</a:t>
                      </a:r>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Model Training:</a:t>
                      </a:r>
                      <a:r>
                        <a:rPr lang="en-US" sz="1600">
                          <a:solidFill>
                            <a:srgbClr val="000000"/>
                          </a:solidFill>
                          <a:latin typeface="Canva Sans"/>
                          <a:ea typeface="Canva Sans"/>
                          <a:cs typeface="Canva Sans"/>
                          <a:sym typeface="Canva Sans"/>
                        </a:rPr>
                        <a:t> Train YOLOv8 by adjusting hyperparameters to optimize accuracy.</a:t>
                      </a:r>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Real-time Detection</a:t>
                      </a:r>
                      <a:r>
                        <a:rPr lang="en-US" sz="1600">
                          <a:solidFill>
                            <a:srgbClr val="000000"/>
                          </a:solidFill>
                          <a:latin typeface="Canva Sans"/>
                          <a:ea typeface="Canva Sans"/>
                          <a:cs typeface="Canva Sans"/>
                          <a:sym typeface="Canva Sans"/>
                        </a:rPr>
                        <a:t>: YOLOv8 detects accidents in real-time by drawing bounding boxes.</a:t>
                      </a:r>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Alert Generation</a:t>
                      </a:r>
                      <a:r>
                        <a:rPr lang="en-US" sz="1600">
                          <a:solidFill>
                            <a:srgbClr val="000000"/>
                          </a:solidFill>
                          <a:latin typeface="Canva Sans"/>
                          <a:ea typeface="Canva Sans"/>
                          <a:cs typeface="Canva Sans"/>
                          <a:sym typeface="Canva Sans"/>
                        </a:rPr>
                        <a:t>: Send immediate alerts to authorities when accidents are detected.</a:t>
                      </a:r>
                    </a:p>
                    <a:p>
                      <a:pPr marL="345441" lvl="1" indent="-172721" algn="l">
                        <a:lnSpc>
                          <a:spcPts val="2208"/>
                        </a:lnSpc>
                        <a:buFont typeface="Arial"/>
                        <a:buChar char="•"/>
                      </a:pPr>
                      <a:r>
                        <a:rPr lang="en-US" sz="1600" b="1">
                          <a:solidFill>
                            <a:srgbClr val="000000"/>
                          </a:solidFill>
                          <a:latin typeface="Canva Sans Bold"/>
                          <a:ea typeface="Canva Sans Bold"/>
                          <a:cs typeface="Canva Sans Bold"/>
                          <a:sym typeface="Canva Sans Bold"/>
                        </a:rPr>
                        <a:t>Performance Evaluatio</a:t>
                      </a:r>
                      <a:r>
                        <a:rPr lang="en-US" sz="1600">
                          <a:solidFill>
                            <a:srgbClr val="000000"/>
                          </a:solidFill>
                          <a:latin typeface="Canva Sans"/>
                          <a:ea typeface="Canva Sans"/>
                          <a:cs typeface="Canva Sans"/>
                          <a:sym typeface="Canva Sans"/>
                        </a:rPr>
                        <a:t>n: Evaluate the model’s accuracy, speed, and resource efficiency.</a:t>
                      </a:r>
                    </a:p>
                    <a:p>
                      <a:pPr algn="l">
                        <a:lnSpc>
                          <a:spcPts val="2208"/>
                        </a:lnSpc>
                      </a:pPr>
                      <a:endParaRPr lang="en-US" sz="16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483"/>
                        </a:lnSpc>
                        <a:defRPr/>
                      </a:pPr>
                      <a:r>
                        <a:rPr lang="en-US" sz="1800">
                          <a:solidFill>
                            <a:srgbClr val="000000"/>
                          </a:solidFill>
                          <a:latin typeface="Canva Sans"/>
                          <a:ea typeface="Canva Sans"/>
                          <a:cs typeface="Canva Sans"/>
                          <a:sym typeface="Canva Sans"/>
                        </a:rPr>
                        <a:t>The system is trained using a custom dataset of road accident images collected from public and private sources. These images are annotated with bounding boxes to indicate the location of accidents and non-accidents.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483"/>
                        </a:lnSpc>
                        <a:defRPr/>
                      </a:pPr>
                      <a:r>
                        <a:rPr lang="en-US" sz="1800">
                          <a:solidFill>
                            <a:srgbClr val="000000"/>
                          </a:solidFill>
                          <a:latin typeface="Canva Sans"/>
                          <a:ea typeface="Canva Sans"/>
                          <a:cs typeface="Canva Sans"/>
                          <a:sym typeface="Canva Sans"/>
                        </a:rPr>
                        <a:t>perform real-time accident detection with high accuracy and minimal latency.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483"/>
                        </a:lnSpc>
                        <a:buFont typeface="Arial"/>
                        <a:buChar char="•"/>
                        <a:defRPr/>
                      </a:pPr>
                      <a:r>
                        <a:rPr lang="en-US" sz="1800" b="1">
                          <a:solidFill>
                            <a:srgbClr val="000000"/>
                          </a:solidFill>
                          <a:latin typeface="Canva Sans Bold"/>
                          <a:ea typeface="Canva Sans Bold"/>
                          <a:cs typeface="Canva Sans Bold"/>
                          <a:sym typeface="Canva Sans Bold"/>
                        </a:rPr>
                        <a:t>Generalization</a:t>
                      </a:r>
                      <a:r>
                        <a:rPr lang="en-US" sz="1800">
                          <a:solidFill>
                            <a:srgbClr val="000000"/>
                          </a:solidFill>
                          <a:latin typeface="Canva Sans"/>
                          <a:ea typeface="Canva Sans"/>
                          <a:cs typeface="Canva Sans"/>
                          <a:sym typeface="Canva Sans"/>
                        </a:rPr>
                        <a:t>: Model may not perform well in different traffic patterns or environments.</a:t>
                      </a:r>
                      <a:endParaRPr lang="en-US" sz="1100"/>
                    </a:p>
                    <a:p>
                      <a:pPr marL="388620" lvl="1" indent="-194310" algn="l">
                        <a:lnSpc>
                          <a:spcPts val="2483"/>
                        </a:lnSpc>
                        <a:buFont typeface="Arial"/>
                        <a:buChar char="•"/>
                      </a:pPr>
                      <a:r>
                        <a:rPr lang="en-US" sz="1800" b="1">
                          <a:solidFill>
                            <a:srgbClr val="000000"/>
                          </a:solidFill>
                          <a:latin typeface="Canva Sans Bold"/>
                          <a:ea typeface="Canva Sans Bold"/>
                          <a:cs typeface="Canva Sans Bold"/>
                          <a:sym typeface="Canva Sans Bold"/>
                        </a:rPr>
                        <a:t>Complex Scenarios</a:t>
                      </a:r>
                      <a:r>
                        <a:rPr lang="en-US" sz="1800">
                          <a:solidFill>
                            <a:srgbClr val="000000"/>
                          </a:solidFill>
                          <a:latin typeface="Canva Sans"/>
                          <a:ea typeface="Canva Sans"/>
                          <a:cs typeface="Canva Sans"/>
                          <a:sym typeface="Canva Sans"/>
                        </a:rPr>
                        <a:t>: Struggles with accidents involving overlapping objects in high-density areas.</a:t>
                      </a:r>
                    </a:p>
                    <a:p>
                      <a:pPr marL="388620" lvl="1" indent="-194310" algn="l">
                        <a:lnSpc>
                          <a:spcPts val="2483"/>
                        </a:lnSpc>
                        <a:buFont typeface="Arial"/>
                        <a:buChar char="•"/>
                      </a:pPr>
                      <a:r>
                        <a:rPr lang="en-US" sz="1800" b="1">
                          <a:solidFill>
                            <a:srgbClr val="000000"/>
                          </a:solidFill>
                          <a:latin typeface="Canva Sans Bold"/>
                          <a:ea typeface="Canva Sans Bold"/>
                          <a:cs typeface="Canva Sans Bold"/>
                          <a:sym typeface="Canva Sans Bold"/>
                        </a:rPr>
                        <a:t>Real-time Constraints</a:t>
                      </a:r>
                      <a:r>
                        <a:rPr lang="en-US" sz="1800">
                          <a:solidFill>
                            <a:srgbClr val="000000"/>
                          </a:solidFill>
                          <a:latin typeface="Canva Sans"/>
                          <a:ea typeface="Canva Sans"/>
                          <a:cs typeface="Canva Sans"/>
                          <a:sym typeface="Canva Sans"/>
                        </a:rPr>
                        <a:t>: Computational demand may limit performance in low-resource environments.</a:t>
                      </a:r>
                    </a:p>
                    <a:p>
                      <a:pPr marL="388620" lvl="1" indent="-194310" algn="l">
                        <a:lnSpc>
                          <a:spcPts val="2483"/>
                        </a:lnSpc>
                        <a:buFont typeface="Arial"/>
                        <a:buChar char="•"/>
                      </a:pPr>
                      <a:r>
                        <a:rPr lang="en-US" sz="1800" b="1">
                          <a:solidFill>
                            <a:srgbClr val="000000"/>
                          </a:solidFill>
                          <a:latin typeface="Canva Sans Bold"/>
                          <a:ea typeface="Canva Sans Bold"/>
                          <a:cs typeface="Canva Sans Bold"/>
                          <a:sym typeface="Canva Sans Bold"/>
                        </a:rPr>
                        <a:t>Lighting &amp; Weather:</a:t>
                      </a:r>
                      <a:r>
                        <a:rPr lang="en-US" sz="1800">
                          <a:solidFill>
                            <a:srgbClr val="000000"/>
                          </a:solidFill>
                          <a:latin typeface="Canva Sans"/>
                          <a:ea typeface="Canva Sans"/>
                          <a:cs typeface="Canva Sans"/>
                          <a:sym typeface="Canva Sans"/>
                        </a:rPr>
                        <a:t> Accuracy may drop under poor lighting or adverse weather conditions.</a:t>
                      </a:r>
                    </a:p>
                    <a:p>
                      <a:pPr algn="l">
                        <a:lnSpc>
                          <a:spcPts val="2483"/>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0" name="TextBox 10"/>
          <p:cNvSpPr txBox="1"/>
          <p:nvPr/>
        </p:nvSpPr>
        <p:spPr>
          <a:xfrm>
            <a:off x="829539" y="9524293"/>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592764" y="8709995"/>
            <a:ext cx="19665504" cy="2915476"/>
            <a:chOff x="0" y="0"/>
            <a:chExt cx="5179392" cy="767862"/>
          </a:xfrm>
        </p:grpSpPr>
        <p:sp>
          <p:nvSpPr>
            <p:cNvPr id="3" name="Freeform 3"/>
            <p:cNvSpPr/>
            <p:nvPr/>
          </p:nvSpPr>
          <p:spPr>
            <a:xfrm>
              <a:off x="0" y="0"/>
              <a:ext cx="5179392" cy="767862"/>
            </a:xfrm>
            <a:custGeom>
              <a:avLst/>
              <a:gdLst/>
              <a:ahLst/>
              <a:cxnLst/>
              <a:rect l="l" t="t" r="r" b="b"/>
              <a:pathLst>
                <a:path w="5179392" h="767862">
                  <a:moveTo>
                    <a:pt x="0" y="0"/>
                  </a:moveTo>
                  <a:lnTo>
                    <a:pt x="5179392" y="0"/>
                  </a:lnTo>
                  <a:lnTo>
                    <a:pt x="5179392" y="767862"/>
                  </a:lnTo>
                  <a:lnTo>
                    <a:pt x="0" y="767862"/>
                  </a:lnTo>
                  <a:close/>
                </a:path>
              </a:pathLst>
            </a:custGeom>
            <a:solidFill>
              <a:srgbClr val="0B1320"/>
            </a:solidFill>
          </p:spPr>
          <p:txBody>
            <a:bodyPr/>
            <a:lstStyle/>
            <a:p>
              <a:endParaRPr lang="en-SG"/>
            </a:p>
          </p:txBody>
        </p:sp>
        <p:sp>
          <p:nvSpPr>
            <p:cNvPr id="4" name="TextBox 4"/>
            <p:cNvSpPr txBox="1"/>
            <p:nvPr/>
          </p:nvSpPr>
          <p:spPr>
            <a:xfrm>
              <a:off x="0" y="-47625"/>
              <a:ext cx="5179392" cy="815487"/>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4648650">
            <a:off x="11970985" y="-2053884"/>
            <a:ext cx="4632681" cy="5258396"/>
          </a:xfrm>
          <a:custGeom>
            <a:avLst/>
            <a:gdLst/>
            <a:ahLst/>
            <a:cxnLst/>
            <a:rect l="l" t="t" r="r" b="b"/>
            <a:pathLst>
              <a:path w="4632681" h="5258396">
                <a:moveTo>
                  <a:pt x="0" y="0"/>
                </a:moveTo>
                <a:lnTo>
                  <a:pt x="4632680" y="0"/>
                </a:lnTo>
                <a:lnTo>
                  <a:pt x="4632680" y="5258397"/>
                </a:lnTo>
                <a:lnTo>
                  <a:pt x="0" y="5258397"/>
                </a:lnTo>
                <a:lnTo>
                  <a:pt x="0" y="0"/>
                </a:lnTo>
                <a:close/>
              </a:path>
            </a:pathLst>
          </a:custGeom>
          <a:blipFill>
            <a:blip r:embed="rId2">
              <a:alphaModFix amt="48000"/>
              <a:extLst>
                <a:ext uri="{96DAC541-7B7A-43D3-8B79-37D633B846F1}">
                  <asvg:svgBlip xmlns:asvg="http://schemas.microsoft.com/office/drawing/2016/SVG/main" r:embed="rId3"/>
                </a:ext>
              </a:extLst>
            </a:blip>
            <a:stretch>
              <a:fillRect r="-43679"/>
            </a:stretch>
          </a:blipFill>
        </p:spPr>
        <p:txBody>
          <a:bodyPr/>
          <a:lstStyle/>
          <a:p>
            <a:endParaRPr lang="en-SG"/>
          </a:p>
        </p:txBody>
      </p:sp>
      <p:sp>
        <p:nvSpPr>
          <p:cNvPr id="6" name="TextBox 6"/>
          <p:cNvSpPr txBox="1"/>
          <p:nvPr/>
        </p:nvSpPr>
        <p:spPr>
          <a:xfrm>
            <a:off x="829539" y="569916"/>
            <a:ext cx="14640976"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Literary Review(Paper 3)</a:t>
            </a:r>
          </a:p>
        </p:txBody>
      </p:sp>
      <p:sp>
        <p:nvSpPr>
          <p:cNvPr id="7" name="TextBox 7"/>
          <p:cNvSpPr txBox="1"/>
          <p:nvPr/>
        </p:nvSpPr>
        <p:spPr>
          <a:xfrm>
            <a:off x="952500" y="9291652"/>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
        <p:nvSpPr>
          <p:cNvPr id="8" name="AutoShape 8"/>
          <p:cNvSpPr/>
          <p:nvPr/>
        </p:nvSpPr>
        <p:spPr>
          <a:xfrm rot="-4499999">
            <a:off x="12637922" y="9427966"/>
            <a:ext cx="4500396" cy="0"/>
          </a:xfrm>
          <a:prstGeom prst="line">
            <a:avLst/>
          </a:prstGeom>
          <a:ln w="38100" cap="flat">
            <a:solidFill>
              <a:srgbClr val="F3F6FA"/>
            </a:solidFill>
            <a:prstDash val="solid"/>
            <a:headEnd type="none" w="sm" len="sm"/>
            <a:tailEnd type="none" w="sm" len="sm"/>
          </a:ln>
        </p:spPr>
        <p:txBody>
          <a:bodyPr/>
          <a:lstStyle/>
          <a:p>
            <a:endParaRPr lang="en-SG"/>
          </a:p>
        </p:txBody>
      </p:sp>
      <p:sp>
        <p:nvSpPr>
          <p:cNvPr id="9" name="TextBox 9"/>
          <p:cNvSpPr txBox="1"/>
          <p:nvPr/>
        </p:nvSpPr>
        <p:spPr>
          <a:xfrm>
            <a:off x="3508880" y="1730207"/>
            <a:ext cx="11849259" cy="422275"/>
          </a:xfrm>
          <a:prstGeom prst="rect">
            <a:avLst/>
          </a:prstGeom>
        </p:spPr>
        <p:txBody>
          <a:bodyPr lIns="0" tIns="0" rIns="0" bIns="0" rtlCol="0" anchor="t">
            <a:spAutoFit/>
          </a:bodyPr>
          <a:lstStyle/>
          <a:p>
            <a:pPr algn="l">
              <a:lnSpc>
                <a:spcPts val="3499"/>
              </a:lnSpc>
            </a:pPr>
            <a:endParaRPr/>
          </a:p>
        </p:txBody>
      </p:sp>
      <p:graphicFrame>
        <p:nvGraphicFramePr>
          <p:cNvPr id="10" name="Table 10"/>
          <p:cNvGraphicFramePr>
            <a:graphicFrameLocks noGrp="1"/>
          </p:cNvGraphicFramePr>
          <p:nvPr/>
        </p:nvGraphicFramePr>
        <p:xfrm>
          <a:off x="0" y="1659066"/>
          <a:ext cx="18288000" cy="7134225"/>
        </p:xfrm>
        <a:graphic>
          <a:graphicData uri="http://schemas.openxmlformats.org/drawingml/2006/table">
            <a:tbl>
              <a:tblPr/>
              <a:tblGrid>
                <a:gridCol w="3267867">
                  <a:extLst>
                    <a:ext uri="{9D8B030D-6E8A-4147-A177-3AD203B41FA5}">
                      <a16:colId xmlns:a16="http://schemas.microsoft.com/office/drawing/2014/main" val="20000"/>
                    </a:ext>
                  </a:extLst>
                </a:gridCol>
                <a:gridCol w="5142266">
                  <a:extLst>
                    <a:ext uri="{9D8B030D-6E8A-4147-A177-3AD203B41FA5}">
                      <a16:colId xmlns:a16="http://schemas.microsoft.com/office/drawing/2014/main" val="20001"/>
                    </a:ext>
                  </a:extLst>
                </a:gridCol>
                <a:gridCol w="3205993">
                  <a:extLst>
                    <a:ext uri="{9D8B030D-6E8A-4147-A177-3AD203B41FA5}">
                      <a16:colId xmlns:a16="http://schemas.microsoft.com/office/drawing/2014/main" val="20002"/>
                    </a:ext>
                  </a:extLst>
                </a:gridCol>
                <a:gridCol w="1524168">
                  <a:extLst>
                    <a:ext uri="{9D8B030D-6E8A-4147-A177-3AD203B41FA5}">
                      <a16:colId xmlns:a16="http://schemas.microsoft.com/office/drawing/2014/main" val="20003"/>
                    </a:ext>
                  </a:extLst>
                </a:gridCol>
                <a:gridCol w="5147706">
                  <a:extLst>
                    <a:ext uri="{9D8B030D-6E8A-4147-A177-3AD203B41FA5}">
                      <a16:colId xmlns:a16="http://schemas.microsoft.com/office/drawing/2014/main" val="20004"/>
                    </a:ext>
                  </a:extLst>
                </a:gridCol>
              </a:tblGrid>
              <a:tr h="1004147">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Paper &amp;</a:t>
                      </a:r>
                      <a:endParaRPr lang="en-US" sz="1100"/>
                    </a:p>
                    <a:p>
                      <a:pPr algn="ctr">
                        <a:lnSpc>
                          <a:spcPts val="2240"/>
                        </a:lnSpc>
                      </a:pPr>
                      <a:r>
                        <a:rPr lang="en-US" sz="1600" b="1">
                          <a:solidFill>
                            <a:srgbClr val="000000"/>
                          </a:solidFill>
                          <a:latin typeface="Canva Sans Bold"/>
                          <a:ea typeface="Canva Sans Bold"/>
                          <a:cs typeface="Canva Sans Bold"/>
                          <a:sym typeface="Canva Sans Bold"/>
                        </a:rPr>
                        <a:t>Publication Year</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Methodology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Datasets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Accuracy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Limitations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130078">
                <a:tc>
                  <a:txBody>
                    <a:bodyPr/>
                    <a:lstStyle/>
                    <a:p>
                      <a:pPr algn="l">
                        <a:lnSpc>
                          <a:spcPts val="2659"/>
                        </a:lnSpc>
                        <a:defRPr/>
                      </a:pPr>
                      <a:r>
                        <a:rPr lang="en-US" sz="1899" b="1">
                          <a:solidFill>
                            <a:srgbClr val="000000"/>
                          </a:solidFill>
                          <a:latin typeface="Canva Sans Bold"/>
                          <a:ea typeface="Canva Sans Bold"/>
                          <a:cs typeface="Canva Sans Bold"/>
                          <a:sym typeface="Canva Sans Bold"/>
                        </a:rPr>
                        <a:t>Title</a:t>
                      </a:r>
                      <a:r>
                        <a:rPr lang="en-US" sz="1899">
                          <a:solidFill>
                            <a:srgbClr val="000000"/>
                          </a:solidFill>
                          <a:latin typeface="Canva Sans"/>
                          <a:ea typeface="Canva Sans"/>
                          <a:cs typeface="Canva Sans"/>
                          <a:sym typeface="Canva Sans"/>
                        </a:rPr>
                        <a:t>: A Deep Learning based Accident Detection System </a:t>
                      </a:r>
                      <a:endParaRPr lang="en-US" sz="1100"/>
                    </a:p>
                    <a:p>
                      <a:pPr algn="l">
                        <a:lnSpc>
                          <a:spcPts val="2659"/>
                        </a:lnSpc>
                      </a:pPr>
                      <a:endParaRPr lang="en-US" sz="1100"/>
                    </a:p>
                    <a:p>
                      <a:pPr algn="l">
                        <a:lnSpc>
                          <a:spcPts val="2659"/>
                        </a:lnSpc>
                      </a:pPr>
                      <a:r>
                        <a:rPr lang="en-US" sz="1899" b="1">
                          <a:solidFill>
                            <a:srgbClr val="000000"/>
                          </a:solidFill>
                          <a:latin typeface="Canva Sans Bold"/>
                          <a:ea typeface="Canva Sans Bold"/>
                          <a:cs typeface="Canva Sans Bold"/>
                          <a:sym typeface="Canva Sans Bold"/>
                        </a:rPr>
                        <a:t>Authors</a:t>
                      </a:r>
                      <a:r>
                        <a:rPr lang="en-US" sz="1899">
                          <a:solidFill>
                            <a:srgbClr val="000000"/>
                          </a:solidFill>
                          <a:latin typeface="Canva Sans"/>
                          <a:ea typeface="Canva Sans"/>
                          <a:cs typeface="Canva Sans"/>
                          <a:sym typeface="Canva Sans"/>
                        </a:rPr>
                        <a:t>: Gokul Rajesh, Amitha Rossy Benny, Harikrishnan A, James Jacob Abraham and Nithin Prince John </a:t>
                      </a:r>
                    </a:p>
                    <a:p>
                      <a:pPr algn="l">
                        <a:lnSpc>
                          <a:spcPts val="2659"/>
                        </a:lnSpc>
                      </a:pPr>
                      <a:endParaRPr lang="en-US" sz="1899">
                        <a:solidFill>
                          <a:srgbClr val="000000"/>
                        </a:solidFill>
                        <a:latin typeface="Canva Sans"/>
                        <a:ea typeface="Canva Sans"/>
                        <a:cs typeface="Canva Sans"/>
                        <a:sym typeface="Canva Sans"/>
                      </a:endParaRPr>
                    </a:p>
                    <a:p>
                      <a:pPr algn="l">
                        <a:lnSpc>
                          <a:spcPts val="2659"/>
                        </a:lnSpc>
                      </a:pPr>
                      <a:r>
                        <a:rPr lang="en-US" sz="1899" b="1">
                          <a:solidFill>
                            <a:srgbClr val="000000"/>
                          </a:solidFill>
                          <a:latin typeface="Canva Sans Bold"/>
                          <a:ea typeface="Canva Sans Bold"/>
                          <a:cs typeface="Canva Sans Bold"/>
                          <a:sym typeface="Canva Sans Bold"/>
                        </a:rPr>
                        <a:t>Publication Year</a:t>
                      </a:r>
                      <a:r>
                        <a:rPr lang="en-US" sz="1899">
                          <a:solidFill>
                            <a:srgbClr val="000000"/>
                          </a:solidFill>
                          <a:latin typeface="Canva Sans"/>
                          <a:ea typeface="Canva Sans"/>
                          <a:cs typeface="Canva Sans"/>
                          <a:sym typeface="Canva Sans"/>
                        </a:rPr>
                        <a:t>: 2020</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67031" lvl="1" indent="-183515" algn="l">
                        <a:lnSpc>
                          <a:spcPts val="2380"/>
                        </a:lnSpc>
                        <a:buFont typeface="Arial"/>
                        <a:buChar char="•"/>
                        <a:defRPr/>
                      </a:pPr>
                      <a:r>
                        <a:rPr lang="en-US" sz="1700">
                          <a:solidFill>
                            <a:srgbClr val="000000"/>
                          </a:solidFill>
                          <a:latin typeface="Canva Sans"/>
                          <a:ea typeface="Canva Sans"/>
                          <a:cs typeface="Canva Sans"/>
                          <a:sym typeface="Canva Sans"/>
                        </a:rPr>
                        <a:t>Custom dataset of 5,000 images focusing on accidents in India.</a:t>
                      </a:r>
                      <a:endParaRPr lang="en-US" sz="1100"/>
                    </a:p>
                    <a:p>
                      <a:pPr marL="367031" lvl="1" indent="-183515" algn="l">
                        <a:lnSpc>
                          <a:spcPts val="2380"/>
                        </a:lnSpc>
                        <a:buFont typeface="Arial"/>
                        <a:buChar char="•"/>
                      </a:pPr>
                      <a:r>
                        <a:rPr lang="en-US" sz="1700">
                          <a:solidFill>
                            <a:srgbClr val="000000"/>
                          </a:solidFill>
                          <a:latin typeface="Canva Sans"/>
                          <a:ea typeface="Canva Sans"/>
                          <a:cs typeface="Canva Sans"/>
                          <a:sym typeface="Canva Sans"/>
                        </a:rPr>
                        <a:t>CNN model trained for 30 epochs using 4,000 images, with dropout and data augmentation to prevent overfitting.</a:t>
                      </a:r>
                    </a:p>
                    <a:p>
                      <a:pPr marL="367031" lvl="1" indent="-183515" algn="l">
                        <a:lnSpc>
                          <a:spcPts val="2380"/>
                        </a:lnSpc>
                        <a:buFont typeface="Arial"/>
                        <a:buChar char="•"/>
                      </a:pPr>
                      <a:r>
                        <a:rPr lang="en-US" sz="1700">
                          <a:solidFill>
                            <a:srgbClr val="000000"/>
                          </a:solidFill>
                          <a:latin typeface="Canva Sans"/>
                          <a:ea typeface="Canva Sans"/>
                          <a:cs typeface="Canva Sans"/>
                          <a:sym typeface="Canva Sans"/>
                        </a:rPr>
                        <a:t>CNN uses convolutional layers, max-pooling, batch normalization, and ReLU activation.</a:t>
                      </a:r>
                    </a:p>
                    <a:p>
                      <a:pPr marL="367031" lvl="1" indent="-183515" algn="l">
                        <a:lnSpc>
                          <a:spcPts val="2380"/>
                        </a:lnSpc>
                        <a:buFont typeface="Arial"/>
                        <a:buChar char="•"/>
                      </a:pPr>
                      <a:r>
                        <a:rPr lang="en-US" sz="1700">
                          <a:solidFill>
                            <a:srgbClr val="000000"/>
                          </a:solidFill>
                          <a:latin typeface="Canva Sans"/>
                          <a:ea typeface="Canva Sans"/>
                          <a:cs typeface="Canva Sans"/>
                          <a:sym typeface="Canva Sans"/>
                        </a:rPr>
                        <a:t>Video classification using frame averaging and rolling predictions with deque.</a:t>
                      </a:r>
                    </a:p>
                    <a:p>
                      <a:pPr marL="367031" lvl="1" indent="-183515" algn="l">
                        <a:lnSpc>
                          <a:spcPts val="2380"/>
                        </a:lnSpc>
                        <a:buFont typeface="Arial"/>
                        <a:buChar char="•"/>
                      </a:pPr>
                      <a:r>
                        <a:rPr lang="en-US" sz="1700">
                          <a:solidFill>
                            <a:srgbClr val="000000"/>
                          </a:solidFill>
                          <a:latin typeface="Canva Sans"/>
                          <a:ea typeface="Canva Sans"/>
                          <a:cs typeface="Canva Sans"/>
                          <a:sym typeface="Canva Sans"/>
                        </a:rPr>
                        <a:t>Alert system sends camera location alerts to control rooms via the GSM module upon accident detection.</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Custom Dataset:</a:t>
                      </a:r>
                      <a:r>
                        <a:rPr lang="en-US" sz="1800">
                          <a:solidFill>
                            <a:srgbClr val="000000"/>
                          </a:solidFill>
                          <a:latin typeface="Canva Sans"/>
                          <a:ea typeface="Canva Sans"/>
                          <a:cs typeface="Canva Sans"/>
                          <a:sym typeface="Canva Sans"/>
                        </a:rPr>
                        <a:t> 5,000 images were created with 2,500 accident images and 2,500 non-accident images, focusing on road accidents in India. These images were collected from Google Images and converted to a consistent size for training.</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CNN : </a:t>
                      </a:r>
                      <a:r>
                        <a:rPr lang="en-US" sz="1800">
                          <a:solidFill>
                            <a:srgbClr val="000000"/>
                          </a:solidFill>
                          <a:latin typeface="Canva Sans"/>
                          <a:ea typeface="Canva Sans"/>
                          <a:cs typeface="Canva Sans"/>
                          <a:sym typeface="Canva Sans"/>
                        </a:rPr>
                        <a:t>Accuracy 85%</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520"/>
                        </a:lnSpc>
                        <a:buFont typeface="Arial"/>
                        <a:buChar char="•"/>
                        <a:defRPr/>
                      </a:pPr>
                      <a:r>
                        <a:rPr lang="en-US" sz="1800" b="1">
                          <a:solidFill>
                            <a:srgbClr val="000000"/>
                          </a:solidFill>
                          <a:latin typeface="Canva Sans Bold"/>
                          <a:ea typeface="Canva Sans Bold"/>
                          <a:cs typeface="Canva Sans Bold"/>
                          <a:sym typeface="Canva Sans Bold"/>
                        </a:rPr>
                        <a:t>Lack of Existing Mechanism</a:t>
                      </a:r>
                      <a:r>
                        <a:rPr lang="en-US" sz="1800">
                          <a:solidFill>
                            <a:srgbClr val="000000"/>
                          </a:solidFill>
                          <a:latin typeface="Canva Sans"/>
                          <a:ea typeface="Canva Sans"/>
                          <a:cs typeface="Canva Sans"/>
                          <a:sym typeface="Canva Sans"/>
                        </a:rPr>
                        <a:t>: No current real-time accident detection system with similar efficiency.</a:t>
                      </a:r>
                      <a:endParaRPr lang="en-US" sz="1100"/>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High Costs</a:t>
                      </a:r>
                      <a:r>
                        <a:rPr lang="en-US" sz="1800">
                          <a:solidFill>
                            <a:srgbClr val="000000"/>
                          </a:solidFill>
                          <a:latin typeface="Canva Sans"/>
                          <a:ea typeface="Canva Sans"/>
                          <a:cs typeface="Canva Sans"/>
                          <a:sym typeface="Canva Sans"/>
                        </a:rPr>
                        <a:t>: Sensor-based systems (e.g., GSM, GPS) are expensive and hard to install.</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Infrastructure Dependency</a:t>
                      </a:r>
                      <a:r>
                        <a:rPr lang="en-US" sz="1800">
                          <a:solidFill>
                            <a:srgbClr val="000000"/>
                          </a:solidFill>
                          <a:latin typeface="Canva Sans"/>
                          <a:ea typeface="Canva Sans"/>
                          <a:cs typeface="Canva Sans"/>
                          <a:sym typeface="Canva Sans"/>
                        </a:rPr>
                        <a:t>: Relies on existing camera networks and location data, limiting use in areas without infrastructure.</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Dynamic Environments</a:t>
                      </a:r>
                      <a:r>
                        <a:rPr lang="en-US" sz="1800">
                          <a:solidFill>
                            <a:srgbClr val="000000"/>
                          </a:solidFill>
                          <a:latin typeface="Canva Sans"/>
                          <a:ea typeface="Canva Sans"/>
                          <a:cs typeface="Canva Sans"/>
                          <a:sym typeface="Canva Sans"/>
                        </a:rPr>
                        <a:t>: Performance may drop in poor camera quality conditions (e.g., low light, bad weather).</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Scalability</a:t>
                      </a:r>
                      <a:r>
                        <a:rPr lang="en-US" sz="1800">
                          <a:solidFill>
                            <a:srgbClr val="000000"/>
                          </a:solidFill>
                          <a:latin typeface="Canva Sans"/>
                          <a:ea typeface="Canva Sans"/>
                          <a:cs typeface="Canva Sans"/>
                          <a:sym typeface="Canva Sans"/>
                        </a:rPr>
                        <a:t>: Expanding the system requires addressing network delays and data integration.</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592764" y="9348802"/>
            <a:ext cx="19665504" cy="2276669"/>
            <a:chOff x="0" y="0"/>
            <a:chExt cx="5179392" cy="599616"/>
          </a:xfrm>
        </p:grpSpPr>
        <p:sp>
          <p:nvSpPr>
            <p:cNvPr id="3" name="Freeform 3"/>
            <p:cNvSpPr/>
            <p:nvPr/>
          </p:nvSpPr>
          <p:spPr>
            <a:xfrm>
              <a:off x="0" y="0"/>
              <a:ext cx="5179392" cy="599616"/>
            </a:xfrm>
            <a:custGeom>
              <a:avLst/>
              <a:gdLst/>
              <a:ahLst/>
              <a:cxnLst/>
              <a:rect l="l" t="t" r="r" b="b"/>
              <a:pathLst>
                <a:path w="5179392" h="599616">
                  <a:moveTo>
                    <a:pt x="0" y="0"/>
                  </a:moveTo>
                  <a:lnTo>
                    <a:pt x="5179392" y="0"/>
                  </a:lnTo>
                  <a:lnTo>
                    <a:pt x="5179392" y="599616"/>
                  </a:lnTo>
                  <a:lnTo>
                    <a:pt x="0" y="599616"/>
                  </a:lnTo>
                  <a:close/>
                </a:path>
              </a:pathLst>
            </a:custGeom>
            <a:solidFill>
              <a:srgbClr val="0B1320"/>
            </a:solidFill>
          </p:spPr>
          <p:txBody>
            <a:bodyPr/>
            <a:lstStyle/>
            <a:p>
              <a:endParaRPr lang="en-SG"/>
            </a:p>
          </p:txBody>
        </p:sp>
        <p:sp>
          <p:nvSpPr>
            <p:cNvPr id="4" name="TextBox 4"/>
            <p:cNvSpPr txBox="1"/>
            <p:nvPr/>
          </p:nvSpPr>
          <p:spPr>
            <a:xfrm>
              <a:off x="0" y="-47625"/>
              <a:ext cx="5179392" cy="647241"/>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4648650">
            <a:off x="11970985" y="-2053884"/>
            <a:ext cx="4632681" cy="5258396"/>
          </a:xfrm>
          <a:custGeom>
            <a:avLst/>
            <a:gdLst/>
            <a:ahLst/>
            <a:cxnLst/>
            <a:rect l="l" t="t" r="r" b="b"/>
            <a:pathLst>
              <a:path w="4632681" h="5258396">
                <a:moveTo>
                  <a:pt x="0" y="0"/>
                </a:moveTo>
                <a:lnTo>
                  <a:pt x="4632680" y="0"/>
                </a:lnTo>
                <a:lnTo>
                  <a:pt x="4632680" y="5258397"/>
                </a:lnTo>
                <a:lnTo>
                  <a:pt x="0" y="5258397"/>
                </a:lnTo>
                <a:lnTo>
                  <a:pt x="0" y="0"/>
                </a:lnTo>
                <a:close/>
              </a:path>
            </a:pathLst>
          </a:custGeom>
          <a:blipFill>
            <a:blip r:embed="rId2">
              <a:alphaModFix amt="48000"/>
              <a:extLst>
                <a:ext uri="{96DAC541-7B7A-43D3-8B79-37D633B846F1}">
                  <asvg:svgBlip xmlns:asvg="http://schemas.microsoft.com/office/drawing/2016/SVG/main" r:embed="rId3"/>
                </a:ext>
              </a:extLst>
            </a:blip>
            <a:stretch>
              <a:fillRect r="-43679"/>
            </a:stretch>
          </a:blipFill>
        </p:spPr>
        <p:txBody>
          <a:bodyPr/>
          <a:lstStyle/>
          <a:p>
            <a:endParaRPr lang="en-SG"/>
          </a:p>
        </p:txBody>
      </p:sp>
      <p:sp>
        <p:nvSpPr>
          <p:cNvPr id="6" name="TextBox 6"/>
          <p:cNvSpPr txBox="1"/>
          <p:nvPr/>
        </p:nvSpPr>
        <p:spPr>
          <a:xfrm>
            <a:off x="829539" y="569916"/>
            <a:ext cx="14640976"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Literary Review(Paper 4)</a:t>
            </a:r>
          </a:p>
        </p:txBody>
      </p:sp>
      <p:sp>
        <p:nvSpPr>
          <p:cNvPr id="7" name="TextBox 7"/>
          <p:cNvSpPr txBox="1"/>
          <p:nvPr/>
        </p:nvSpPr>
        <p:spPr>
          <a:xfrm>
            <a:off x="952500" y="9291652"/>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
        <p:nvSpPr>
          <p:cNvPr id="8" name="AutoShape 8"/>
          <p:cNvSpPr/>
          <p:nvPr/>
        </p:nvSpPr>
        <p:spPr>
          <a:xfrm rot="-4499999">
            <a:off x="12637922" y="9427966"/>
            <a:ext cx="4500396" cy="0"/>
          </a:xfrm>
          <a:prstGeom prst="line">
            <a:avLst/>
          </a:prstGeom>
          <a:ln w="38100" cap="flat">
            <a:solidFill>
              <a:srgbClr val="F3F6FA"/>
            </a:solidFill>
            <a:prstDash val="solid"/>
            <a:headEnd type="none" w="sm" len="sm"/>
            <a:tailEnd type="none" w="sm" len="sm"/>
          </a:ln>
        </p:spPr>
        <p:txBody>
          <a:bodyPr/>
          <a:lstStyle/>
          <a:p>
            <a:endParaRPr lang="en-SG"/>
          </a:p>
        </p:txBody>
      </p:sp>
      <p:sp>
        <p:nvSpPr>
          <p:cNvPr id="9" name="TextBox 9"/>
          <p:cNvSpPr txBox="1"/>
          <p:nvPr/>
        </p:nvSpPr>
        <p:spPr>
          <a:xfrm>
            <a:off x="3508880" y="1730207"/>
            <a:ext cx="11849259" cy="422275"/>
          </a:xfrm>
          <a:prstGeom prst="rect">
            <a:avLst/>
          </a:prstGeom>
        </p:spPr>
        <p:txBody>
          <a:bodyPr lIns="0" tIns="0" rIns="0" bIns="0" rtlCol="0" anchor="t">
            <a:spAutoFit/>
          </a:bodyPr>
          <a:lstStyle/>
          <a:p>
            <a:pPr algn="l">
              <a:lnSpc>
                <a:spcPts val="3499"/>
              </a:lnSpc>
            </a:pPr>
            <a:endParaRPr/>
          </a:p>
        </p:txBody>
      </p:sp>
      <p:graphicFrame>
        <p:nvGraphicFramePr>
          <p:cNvPr id="10" name="Table 10"/>
          <p:cNvGraphicFramePr>
            <a:graphicFrameLocks noGrp="1"/>
          </p:cNvGraphicFramePr>
          <p:nvPr/>
        </p:nvGraphicFramePr>
        <p:xfrm>
          <a:off x="80016" y="1659066"/>
          <a:ext cx="17868614" cy="8097868"/>
        </p:xfrm>
        <a:graphic>
          <a:graphicData uri="http://schemas.openxmlformats.org/drawingml/2006/table">
            <a:tbl>
              <a:tblPr/>
              <a:tblGrid>
                <a:gridCol w="3267987">
                  <a:extLst>
                    <a:ext uri="{9D8B030D-6E8A-4147-A177-3AD203B41FA5}">
                      <a16:colId xmlns:a16="http://schemas.microsoft.com/office/drawing/2014/main" val="20000"/>
                    </a:ext>
                  </a:extLst>
                </a:gridCol>
                <a:gridCol w="5142455">
                  <a:extLst>
                    <a:ext uri="{9D8B030D-6E8A-4147-A177-3AD203B41FA5}">
                      <a16:colId xmlns:a16="http://schemas.microsoft.com/office/drawing/2014/main" val="20001"/>
                    </a:ext>
                  </a:extLst>
                </a:gridCol>
                <a:gridCol w="3206111">
                  <a:extLst>
                    <a:ext uri="{9D8B030D-6E8A-4147-A177-3AD203B41FA5}">
                      <a16:colId xmlns:a16="http://schemas.microsoft.com/office/drawing/2014/main" val="20002"/>
                    </a:ext>
                  </a:extLst>
                </a:gridCol>
                <a:gridCol w="2599202">
                  <a:extLst>
                    <a:ext uri="{9D8B030D-6E8A-4147-A177-3AD203B41FA5}">
                      <a16:colId xmlns:a16="http://schemas.microsoft.com/office/drawing/2014/main" val="20003"/>
                    </a:ext>
                  </a:extLst>
                </a:gridCol>
                <a:gridCol w="3652859">
                  <a:extLst>
                    <a:ext uri="{9D8B030D-6E8A-4147-A177-3AD203B41FA5}">
                      <a16:colId xmlns:a16="http://schemas.microsoft.com/office/drawing/2014/main" val="20004"/>
                    </a:ext>
                  </a:extLst>
                </a:gridCol>
              </a:tblGrid>
              <a:tr h="1003667">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Paper &amp;</a:t>
                      </a:r>
                      <a:endParaRPr lang="en-US" sz="1100"/>
                    </a:p>
                    <a:p>
                      <a:pPr algn="ctr">
                        <a:lnSpc>
                          <a:spcPts val="2240"/>
                        </a:lnSpc>
                      </a:pPr>
                      <a:r>
                        <a:rPr lang="en-US" sz="1600" b="1">
                          <a:solidFill>
                            <a:srgbClr val="000000"/>
                          </a:solidFill>
                          <a:latin typeface="Canva Sans Bold"/>
                          <a:ea typeface="Canva Sans Bold"/>
                          <a:cs typeface="Canva Sans Bold"/>
                          <a:sym typeface="Canva Sans Bold"/>
                        </a:rPr>
                        <a:t>Publication Year</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Methodology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Datasets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Accuracy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Limitations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094201">
                <a:tc>
                  <a:txBody>
                    <a:bodyPr/>
                    <a:lstStyle/>
                    <a:p>
                      <a:pPr algn="l">
                        <a:lnSpc>
                          <a:spcPts val="2659"/>
                        </a:lnSpc>
                        <a:defRPr/>
                      </a:pPr>
                      <a:r>
                        <a:rPr lang="en-US" sz="1899" b="1">
                          <a:solidFill>
                            <a:srgbClr val="000000"/>
                          </a:solidFill>
                          <a:latin typeface="Canva Sans Bold"/>
                          <a:ea typeface="Canva Sans Bold"/>
                          <a:cs typeface="Canva Sans Bold"/>
                          <a:sym typeface="Canva Sans Bold"/>
                        </a:rPr>
                        <a:t>Title</a:t>
                      </a:r>
                      <a:r>
                        <a:rPr lang="en-US" sz="1899">
                          <a:solidFill>
                            <a:srgbClr val="000000"/>
                          </a:solidFill>
                          <a:latin typeface="Canva Sans"/>
                          <a:ea typeface="Canva Sans"/>
                          <a:cs typeface="Canva Sans"/>
                          <a:sym typeface="Canva Sans"/>
                        </a:rPr>
                        <a:t>:Accident Detection Using Convolutional Neural Networks</a:t>
                      </a:r>
                      <a:endParaRPr lang="en-US" sz="1100"/>
                    </a:p>
                    <a:p>
                      <a:pPr algn="l">
                        <a:lnSpc>
                          <a:spcPts val="2659"/>
                        </a:lnSpc>
                      </a:pPr>
                      <a:endParaRPr lang="en-US" sz="1100"/>
                    </a:p>
                    <a:p>
                      <a:pPr algn="l">
                        <a:lnSpc>
                          <a:spcPts val="2659"/>
                        </a:lnSpc>
                      </a:pPr>
                      <a:r>
                        <a:rPr lang="en-US" sz="1899" b="1">
                          <a:solidFill>
                            <a:srgbClr val="000000"/>
                          </a:solidFill>
                          <a:latin typeface="Canva Sans Bold"/>
                          <a:ea typeface="Canva Sans Bold"/>
                          <a:cs typeface="Canva Sans Bold"/>
                          <a:sym typeface="Canva Sans Bold"/>
                        </a:rPr>
                        <a:t>Authors</a:t>
                      </a:r>
                      <a:r>
                        <a:rPr lang="en-US" sz="1899">
                          <a:solidFill>
                            <a:srgbClr val="000000"/>
                          </a:solidFill>
                          <a:latin typeface="Canva Sans"/>
                          <a:ea typeface="Canva Sans"/>
                          <a:cs typeface="Canva Sans"/>
                          <a:sym typeface="Canva Sans"/>
                        </a:rPr>
                        <a:t>: Sreyan Ghosh, Sherwin Joseph Sunny, Rohan Roney</a:t>
                      </a:r>
                    </a:p>
                    <a:p>
                      <a:pPr algn="l">
                        <a:lnSpc>
                          <a:spcPts val="2659"/>
                        </a:lnSpc>
                      </a:pPr>
                      <a:endParaRPr lang="en-US" sz="1899">
                        <a:solidFill>
                          <a:srgbClr val="000000"/>
                        </a:solidFill>
                        <a:latin typeface="Canva Sans"/>
                        <a:ea typeface="Canva Sans"/>
                        <a:cs typeface="Canva Sans"/>
                        <a:sym typeface="Canva Sans"/>
                      </a:endParaRPr>
                    </a:p>
                    <a:p>
                      <a:pPr algn="l">
                        <a:lnSpc>
                          <a:spcPts val="2659"/>
                        </a:lnSpc>
                      </a:pPr>
                      <a:r>
                        <a:rPr lang="en-US" sz="1899" b="1">
                          <a:solidFill>
                            <a:srgbClr val="000000"/>
                          </a:solidFill>
                          <a:latin typeface="Canva Sans Bold"/>
                          <a:ea typeface="Canva Sans Bold"/>
                          <a:cs typeface="Canva Sans Bold"/>
                          <a:sym typeface="Canva Sans Bold"/>
                        </a:rPr>
                        <a:t>Publication Year</a:t>
                      </a:r>
                      <a:r>
                        <a:rPr lang="en-US" sz="1899">
                          <a:solidFill>
                            <a:srgbClr val="000000"/>
                          </a:solidFill>
                          <a:latin typeface="Canva Sans"/>
                          <a:ea typeface="Canva Sans"/>
                          <a:cs typeface="Canva Sans"/>
                          <a:sym typeface="Canva Sans"/>
                        </a:rPr>
                        <a:t>: 2019</a:t>
                      </a:r>
                    </a:p>
                    <a:p>
                      <a:pPr algn="l">
                        <a:lnSpc>
                          <a:spcPts val="2659"/>
                        </a:lnSpc>
                      </a:pPr>
                      <a:endParaRPr lang="en-US" sz="1899">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67031" lvl="1" indent="-183515" algn="l">
                        <a:lnSpc>
                          <a:spcPts val="2380"/>
                        </a:lnSpc>
                        <a:buFont typeface="Arial"/>
                        <a:buChar char="•"/>
                        <a:defRPr/>
                      </a:pPr>
                      <a:r>
                        <a:rPr lang="en-US" sz="1700" b="1">
                          <a:solidFill>
                            <a:srgbClr val="000000"/>
                          </a:solidFill>
                          <a:latin typeface="Canva Sans Bold"/>
                          <a:ea typeface="Canva Sans Bold"/>
                          <a:cs typeface="Canva Sans Bold"/>
                          <a:sym typeface="Canva Sans Bold"/>
                        </a:rPr>
                        <a:t>Data Collection:</a:t>
                      </a:r>
                      <a:r>
                        <a:rPr lang="en-US" sz="1700">
                          <a:solidFill>
                            <a:srgbClr val="000000"/>
                          </a:solidFill>
                          <a:latin typeface="Canva Sans"/>
                          <a:ea typeface="Canva Sans"/>
                          <a:cs typeface="Canva Sans"/>
                          <a:sym typeface="Canva Sans"/>
                        </a:rPr>
                        <a:t> Created a custom dataset of 20,000 accident and non-accident frames from video footage.</a:t>
                      </a:r>
                      <a:endParaRPr lang="en-US" sz="1100"/>
                    </a:p>
                    <a:p>
                      <a:pPr marL="367031" lvl="1" indent="-183515" algn="l">
                        <a:lnSpc>
                          <a:spcPts val="2380"/>
                        </a:lnSpc>
                        <a:buFont typeface="Arial"/>
                        <a:buChar char="•"/>
                      </a:pPr>
                      <a:r>
                        <a:rPr lang="en-US" sz="1700" b="1">
                          <a:solidFill>
                            <a:srgbClr val="000000"/>
                          </a:solidFill>
                          <a:latin typeface="Canva Sans Bold"/>
                          <a:ea typeface="Canva Sans Bold"/>
                          <a:cs typeface="Canva Sans Bold"/>
                          <a:sym typeface="Canva Sans Bold"/>
                        </a:rPr>
                        <a:t>Preprocessing</a:t>
                      </a:r>
                      <a:r>
                        <a:rPr lang="en-US" sz="1700">
                          <a:solidFill>
                            <a:srgbClr val="000000"/>
                          </a:solidFill>
                          <a:latin typeface="Canva Sans"/>
                          <a:ea typeface="Canva Sans"/>
                          <a:cs typeface="Canva Sans"/>
                          <a:sym typeface="Canva Sans"/>
                        </a:rPr>
                        <a:t>: Resized and preprocessed frames for CNN input.</a:t>
                      </a:r>
                    </a:p>
                    <a:p>
                      <a:pPr marL="367031" lvl="1" indent="-183515" algn="l">
                        <a:lnSpc>
                          <a:spcPts val="2380"/>
                        </a:lnSpc>
                        <a:buFont typeface="Arial"/>
                        <a:buChar char="•"/>
                      </a:pPr>
                      <a:r>
                        <a:rPr lang="en-US" sz="1700" b="1">
                          <a:solidFill>
                            <a:srgbClr val="000000"/>
                          </a:solidFill>
                          <a:latin typeface="Canva Sans Bold"/>
                          <a:ea typeface="Canva Sans Bold"/>
                          <a:cs typeface="Canva Sans Bold"/>
                          <a:sym typeface="Canva Sans Bold"/>
                        </a:rPr>
                        <a:t>Model Training</a:t>
                      </a:r>
                      <a:r>
                        <a:rPr lang="en-US" sz="1700">
                          <a:solidFill>
                            <a:srgbClr val="000000"/>
                          </a:solidFill>
                          <a:latin typeface="Canva Sans"/>
                          <a:ea typeface="Canva Sans"/>
                          <a:cs typeface="Canva Sans"/>
                          <a:sym typeface="Canva Sans"/>
                        </a:rPr>
                        <a:t>: Trained Inception v3 model using labeled frames.</a:t>
                      </a:r>
                    </a:p>
                    <a:p>
                      <a:pPr marL="367031" lvl="1" indent="-183515" algn="l">
                        <a:lnSpc>
                          <a:spcPts val="2380"/>
                        </a:lnSpc>
                        <a:buFont typeface="Arial"/>
                        <a:buChar char="•"/>
                      </a:pPr>
                      <a:r>
                        <a:rPr lang="en-US" sz="1700" b="1">
                          <a:solidFill>
                            <a:srgbClr val="000000"/>
                          </a:solidFill>
                          <a:latin typeface="Canva Sans Bold"/>
                          <a:ea typeface="Canva Sans Bold"/>
                          <a:cs typeface="Canva Sans Bold"/>
                          <a:sym typeface="Canva Sans Bold"/>
                        </a:rPr>
                        <a:t>Model Implementation</a:t>
                      </a:r>
                      <a:r>
                        <a:rPr lang="en-US" sz="1700">
                          <a:solidFill>
                            <a:srgbClr val="000000"/>
                          </a:solidFill>
                          <a:latin typeface="Canva Sans"/>
                          <a:ea typeface="Canva Sans"/>
                          <a:cs typeface="Canva Sans"/>
                          <a:sym typeface="Canva Sans"/>
                        </a:rPr>
                        <a:t>: Deployed on Raspberry Pi 3 Model B+ with TensorFlow and OpenCV for real-time video processing.</a:t>
                      </a:r>
                    </a:p>
                    <a:p>
                      <a:pPr marL="367031" lvl="1" indent="-183515" algn="l">
                        <a:lnSpc>
                          <a:spcPts val="2380"/>
                        </a:lnSpc>
                        <a:buFont typeface="Arial"/>
                        <a:buChar char="•"/>
                      </a:pPr>
                      <a:r>
                        <a:rPr lang="en-US" sz="1700" b="1">
                          <a:solidFill>
                            <a:srgbClr val="000000"/>
                          </a:solidFill>
                          <a:latin typeface="Canva Sans Bold"/>
                          <a:ea typeface="Canva Sans Bold"/>
                          <a:cs typeface="Canva Sans Bold"/>
                          <a:sym typeface="Canva Sans Bold"/>
                        </a:rPr>
                        <a:t>Alert System</a:t>
                      </a:r>
                      <a:r>
                        <a:rPr lang="en-US" sz="1700">
                          <a:solidFill>
                            <a:srgbClr val="000000"/>
                          </a:solidFill>
                          <a:latin typeface="Canva Sans"/>
                          <a:ea typeface="Canva Sans"/>
                          <a:cs typeface="Canva Sans"/>
                          <a:sym typeface="Canva Sans"/>
                        </a:rPr>
                        <a:t>: Sends SMS alerts with location and timestamp to emergency services upon detecting an accident frame.</a:t>
                      </a:r>
                    </a:p>
                    <a:p>
                      <a:pPr marL="367031" lvl="1" indent="-183515" algn="l">
                        <a:lnSpc>
                          <a:spcPts val="2380"/>
                        </a:lnSpc>
                        <a:buFont typeface="Arial"/>
                        <a:buChar char="•"/>
                      </a:pPr>
                      <a:r>
                        <a:rPr lang="en-US" sz="1700" b="1">
                          <a:solidFill>
                            <a:srgbClr val="000000"/>
                          </a:solidFill>
                          <a:latin typeface="Canva Sans Bold"/>
                          <a:ea typeface="Canva Sans Bold"/>
                          <a:cs typeface="Canva Sans Bold"/>
                          <a:sym typeface="Canva Sans Bold"/>
                        </a:rPr>
                        <a:t>Evaluation</a:t>
                      </a:r>
                      <a:r>
                        <a:rPr lang="en-US" sz="1700">
                          <a:solidFill>
                            <a:srgbClr val="000000"/>
                          </a:solidFill>
                          <a:latin typeface="Canva Sans"/>
                          <a:ea typeface="Canva Sans"/>
                          <a:cs typeface="Canva Sans"/>
                          <a:sym typeface="Canva Sans"/>
                        </a:rPr>
                        <a:t>: Trained and tested the model on accident and non-accident frames to measure accuracy.</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a:solidFill>
                            <a:srgbClr val="000000"/>
                          </a:solidFill>
                          <a:latin typeface="Canva Sans"/>
                          <a:ea typeface="Canva Sans"/>
                          <a:cs typeface="Canva Sans"/>
                          <a:sym typeface="Canva Sans"/>
                        </a:rPr>
                        <a:t>20,000 images (10,000 accident frames and 10,000 non-accident frames) used to train the CNN.</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520"/>
                        </a:lnSpc>
                        <a:buFont typeface="Arial"/>
                        <a:buChar char="•"/>
                        <a:defRPr/>
                      </a:pPr>
                      <a:r>
                        <a:rPr lang="en-US" sz="1800" b="1">
                          <a:solidFill>
                            <a:srgbClr val="000000"/>
                          </a:solidFill>
                          <a:latin typeface="Canva Sans Bold"/>
                          <a:ea typeface="Canva Sans Bold"/>
                          <a:cs typeface="Canva Sans Bold"/>
                          <a:sym typeface="Canva Sans Bold"/>
                        </a:rPr>
                        <a:t>Training Accuracy</a:t>
                      </a:r>
                      <a:r>
                        <a:rPr lang="en-US" sz="1800">
                          <a:solidFill>
                            <a:srgbClr val="000000"/>
                          </a:solidFill>
                          <a:latin typeface="Canva Sans"/>
                          <a:ea typeface="Canva Sans"/>
                          <a:cs typeface="Canva Sans"/>
                          <a:sym typeface="Canva Sans"/>
                        </a:rPr>
                        <a:t>: 95%</a:t>
                      </a:r>
                      <a:endParaRPr lang="en-US" sz="1100"/>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Validation Accuracy:</a:t>
                      </a:r>
                      <a:r>
                        <a:rPr lang="en-US" sz="1800">
                          <a:solidFill>
                            <a:srgbClr val="000000"/>
                          </a:solidFill>
                          <a:latin typeface="Canva Sans"/>
                          <a:ea typeface="Canva Sans"/>
                          <a:cs typeface="Canva Sans"/>
                          <a:sym typeface="Canva Sans"/>
                        </a:rPr>
                        <a:t> 85%</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Overall Accuracy:</a:t>
                      </a:r>
                      <a:r>
                        <a:rPr lang="en-US" sz="1800">
                          <a:solidFill>
                            <a:srgbClr val="000000"/>
                          </a:solidFill>
                          <a:latin typeface="Canva Sans"/>
                          <a:ea typeface="Canva Sans"/>
                          <a:cs typeface="Canva Sans"/>
                          <a:sym typeface="Canva Sans"/>
                        </a:rPr>
                        <a:t> The model achieved up to 98.76% accuracy in accident detection.</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88620" lvl="1" indent="-194310" algn="l">
                        <a:lnSpc>
                          <a:spcPts val="2520"/>
                        </a:lnSpc>
                        <a:buFont typeface="Arial"/>
                        <a:buChar char="•"/>
                        <a:defRPr/>
                      </a:pPr>
                      <a:r>
                        <a:rPr lang="en-US" sz="1800" b="1">
                          <a:solidFill>
                            <a:srgbClr val="000000"/>
                          </a:solidFill>
                          <a:latin typeface="Canva Sans Bold"/>
                          <a:ea typeface="Canva Sans Bold"/>
                          <a:cs typeface="Canva Sans Bold"/>
                          <a:sym typeface="Canva Sans Bold"/>
                        </a:rPr>
                        <a:t>Real-World Application</a:t>
                      </a:r>
                      <a:r>
                        <a:rPr lang="en-US" sz="1800">
                          <a:solidFill>
                            <a:srgbClr val="000000"/>
                          </a:solidFill>
                          <a:latin typeface="Canva Sans"/>
                          <a:ea typeface="Canva Sans"/>
                          <a:cs typeface="Canva Sans"/>
                          <a:sym typeface="Canva Sans"/>
                        </a:rPr>
                        <a:t>: Model performance may be impacted by varied traffic conditions not included in the training data.</a:t>
                      </a:r>
                      <a:endParaRPr lang="en-US" sz="1100"/>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Video Quality</a:t>
                      </a:r>
                      <a:r>
                        <a:rPr lang="en-US" sz="1800">
                          <a:solidFill>
                            <a:srgbClr val="000000"/>
                          </a:solidFill>
                          <a:latin typeface="Canva Sans"/>
                          <a:ea typeface="Canva Sans"/>
                          <a:cs typeface="Canva Sans"/>
                          <a:sym typeface="Canva Sans"/>
                        </a:rPr>
                        <a:t>: Detection accuracy drops if video quality is poor or if the accident isn’t clearly visible.</a:t>
                      </a:r>
                    </a:p>
                    <a:p>
                      <a:pPr marL="388620" lvl="1" indent="-194310" algn="l">
                        <a:lnSpc>
                          <a:spcPts val="2520"/>
                        </a:lnSpc>
                        <a:buFont typeface="Arial"/>
                        <a:buChar char="•"/>
                      </a:pPr>
                      <a:r>
                        <a:rPr lang="en-US" sz="1800" b="1">
                          <a:solidFill>
                            <a:srgbClr val="000000"/>
                          </a:solidFill>
                          <a:latin typeface="Canva Sans Bold"/>
                          <a:ea typeface="Canva Sans Bold"/>
                          <a:cs typeface="Canva Sans Bold"/>
                          <a:sym typeface="Canva Sans Bold"/>
                        </a:rPr>
                        <a:t>Overfitting</a:t>
                      </a:r>
                      <a:r>
                        <a:rPr lang="en-US" sz="1800">
                          <a:solidFill>
                            <a:srgbClr val="000000"/>
                          </a:solidFill>
                          <a:latin typeface="Canva Sans"/>
                          <a:ea typeface="Canva Sans"/>
                          <a:cs typeface="Canva Sans"/>
                          <a:sym typeface="Canva Sans"/>
                        </a:rPr>
                        <a:t>: The model may overfit to the dataset if not properly tuned, leading to poor performance on new data.</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a:off x="-592764" y="9012366"/>
            <a:ext cx="19665504" cy="2613104"/>
            <a:chOff x="0" y="0"/>
            <a:chExt cx="5179392" cy="688225"/>
          </a:xfrm>
        </p:grpSpPr>
        <p:sp>
          <p:nvSpPr>
            <p:cNvPr id="3" name="Freeform 3"/>
            <p:cNvSpPr/>
            <p:nvPr/>
          </p:nvSpPr>
          <p:spPr>
            <a:xfrm>
              <a:off x="0" y="0"/>
              <a:ext cx="5179392" cy="688225"/>
            </a:xfrm>
            <a:custGeom>
              <a:avLst/>
              <a:gdLst/>
              <a:ahLst/>
              <a:cxnLst/>
              <a:rect l="l" t="t" r="r" b="b"/>
              <a:pathLst>
                <a:path w="5179392" h="688225">
                  <a:moveTo>
                    <a:pt x="0" y="0"/>
                  </a:moveTo>
                  <a:lnTo>
                    <a:pt x="5179392" y="0"/>
                  </a:lnTo>
                  <a:lnTo>
                    <a:pt x="5179392" y="688225"/>
                  </a:lnTo>
                  <a:lnTo>
                    <a:pt x="0" y="688225"/>
                  </a:lnTo>
                  <a:close/>
                </a:path>
              </a:pathLst>
            </a:custGeom>
            <a:solidFill>
              <a:srgbClr val="0B1320"/>
            </a:solidFill>
          </p:spPr>
          <p:txBody>
            <a:bodyPr/>
            <a:lstStyle/>
            <a:p>
              <a:endParaRPr lang="en-SG"/>
            </a:p>
          </p:txBody>
        </p:sp>
        <p:sp>
          <p:nvSpPr>
            <p:cNvPr id="4" name="TextBox 4"/>
            <p:cNvSpPr txBox="1"/>
            <p:nvPr/>
          </p:nvSpPr>
          <p:spPr>
            <a:xfrm>
              <a:off x="0" y="-47625"/>
              <a:ext cx="5179392" cy="73585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4648650">
            <a:off x="11970985" y="-2053884"/>
            <a:ext cx="4632681" cy="5258396"/>
          </a:xfrm>
          <a:custGeom>
            <a:avLst/>
            <a:gdLst/>
            <a:ahLst/>
            <a:cxnLst/>
            <a:rect l="l" t="t" r="r" b="b"/>
            <a:pathLst>
              <a:path w="4632681" h="5258396">
                <a:moveTo>
                  <a:pt x="0" y="0"/>
                </a:moveTo>
                <a:lnTo>
                  <a:pt x="4632680" y="0"/>
                </a:lnTo>
                <a:lnTo>
                  <a:pt x="4632680" y="5258397"/>
                </a:lnTo>
                <a:lnTo>
                  <a:pt x="0" y="5258397"/>
                </a:lnTo>
                <a:lnTo>
                  <a:pt x="0" y="0"/>
                </a:lnTo>
                <a:close/>
              </a:path>
            </a:pathLst>
          </a:custGeom>
          <a:blipFill>
            <a:blip r:embed="rId2">
              <a:alphaModFix amt="48000"/>
              <a:extLst>
                <a:ext uri="{96DAC541-7B7A-43D3-8B79-37D633B846F1}">
                  <asvg:svgBlip xmlns:asvg="http://schemas.microsoft.com/office/drawing/2016/SVG/main" r:embed="rId3"/>
                </a:ext>
              </a:extLst>
            </a:blip>
            <a:stretch>
              <a:fillRect r="-43679"/>
            </a:stretch>
          </a:blipFill>
        </p:spPr>
        <p:txBody>
          <a:bodyPr/>
          <a:lstStyle/>
          <a:p>
            <a:endParaRPr lang="en-SG"/>
          </a:p>
        </p:txBody>
      </p:sp>
      <p:sp>
        <p:nvSpPr>
          <p:cNvPr id="6" name="TextBox 6"/>
          <p:cNvSpPr txBox="1"/>
          <p:nvPr/>
        </p:nvSpPr>
        <p:spPr>
          <a:xfrm>
            <a:off x="829539" y="569916"/>
            <a:ext cx="14640976"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Literary Review(Paper 5)</a:t>
            </a:r>
          </a:p>
        </p:txBody>
      </p:sp>
      <p:sp>
        <p:nvSpPr>
          <p:cNvPr id="7" name="AutoShape 7"/>
          <p:cNvSpPr/>
          <p:nvPr/>
        </p:nvSpPr>
        <p:spPr>
          <a:xfrm rot="-4499999">
            <a:off x="12637922" y="9427966"/>
            <a:ext cx="4500396" cy="0"/>
          </a:xfrm>
          <a:prstGeom prst="line">
            <a:avLst/>
          </a:prstGeom>
          <a:ln w="38100" cap="flat">
            <a:solidFill>
              <a:srgbClr val="F3F6FA"/>
            </a:solidFill>
            <a:prstDash val="solid"/>
            <a:headEnd type="none" w="sm" len="sm"/>
            <a:tailEnd type="none" w="sm" len="sm"/>
          </a:ln>
        </p:spPr>
        <p:txBody>
          <a:bodyPr/>
          <a:lstStyle/>
          <a:p>
            <a:endParaRPr lang="en-SG"/>
          </a:p>
        </p:txBody>
      </p:sp>
      <p:sp>
        <p:nvSpPr>
          <p:cNvPr id="8" name="TextBox 8"/>
          <p:cNvSpPr txBox="1"/>
          <p:nvPr/>
        </p:nvSpPr>
        <p:spPr>
          <a:xfrm>
            <a:off x="3508880" y="1730207"/>
            <a:ext cx="11849259" cy="422275"/>
          </a:xfrm>
          <a:prstGeom prst="rect">
            <a:avLst/>
          </a:prstGeom>
        </p:spPr>
        <p:txBody>
          <a:bodyPr lIns="0" tIns="0" rIns="0" bIns="0" rtlCol="0" anchor="t">
            <a:spAutoFit/>
          </a:bodyPr>
          <a:lstStyle/>
          <a:p>
            <a:pPr algn="l">
              <a:lnSpc>
                <a:spcPts val="3499"/>
              </a:lnSpc>
            </a:pPr>
            <a:endParaRPr/>
          </a:p>
        </p:txBody>
      </p:sp>
      <p:graphicFrame>
        <p:nvGraphicFramePr>
          <p:cNvPr id="9" name="Table 9"/>
          <p:cNvGraphicFramePr>
            <a:graphicFrameLocks noGrp="1"/>
          </p:cNvGraphicFramePr>
          <p:nvPr/>
        </p:nvGraphicFramePr>
        <p:xfrm>
          <a:off x="80016" y="1659066"/>
          <a:ext cx="17910005" cy="7869901"/>
        </p:xfrm>
        <a:graphic>
          <a:graphicData uri="http://schemas.openxmlformats.org/drawingml/2006/table">
            <a:tbl>
              <a:tblPr/>
              <a:tblGrid>
                <a:gridCol w="2615610">
                  <a:extLst>
                    <a:ext uri="{9D8B030D-6E8A-4147-A177-3AD203B41FA5}">
                      <a16:colId xmlns:a16="http://schemas.microsoft.com/office/drawing/2014/main" val="20000"/>
                    </a:ext>
                  </a:extLst>
                </a:gridCol>
                <a:gridCol w="6102765">
                  <a:extLst>
                    <a:ext uri="{9D8B030D-6E8A-4147-A177-3AD203B41FA5}">
                      <a16:colId xmlns:a16="http://schemas.microsoft.com/office/drawing/2014/main" val="20001"/>
                    </a:ext>
                  </a:extLst>
                </a:gridCol>
                <a:gridCol w="2856046">
                  <a:extLst>
                    <a:ext uri="{9D8B030D-6E8A-4147-A177-3AD203B41FA5}">
                      <a16:colId xmlns:a16="http://schemas.microsoft.com/office/drawing/2014/main" val="20002"/>
                    </a:ext>
                  </a:extLst>
                </a:gridCol>
                <a:gridCol w="2091523">
                  <a:extLst>
                    <a:ext uri="{9D8B030D-6E8A-4147-A177-3AD203B41FA5}">
                      <a16:colId xmlns:a16="http://schemas.microsoft.com/office/drawing/2014/main" val="20003"/>
                    </a:ext>
                  </a:extLst>
                </a:gridCol>
                <a:gridCol w="4244061">
                  <a:extLst>
                    <a:ext uri="{9D8B030D-6E8A-4147-A177-3AD203B41FA5}">
                      <a16:colId xmlns:a16="http://schemas.microsoft.com/office/drawing/2014/main" val="20004"/>
                    </a:ext>
                  </a:extLst>
                </a:gridCol>
              </a:tblGrid>
              <a:tr h="1003770">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Paper &amp;</a:t>
                      </a:r>
                      <a:endParaRPr lang="en-US" sz="1100"/>
                    </a:p>
                    <a:p>
                      <a:pPr algn="ctr">
                        <a:lnSpc>
                          <a:spcPts val="2240"/>
                        </a:lnSpc>
                      </a:pPr>
                      <a:r>
                        <a:rPr lang="en-US" sz="1600" b="1">
                          <a:solidFill>
                            <a:srgbClr val="000000"/>
                          </a:solidFill>
                          <a:latin typeface="Canva Sans Bold"/>
                          <a:ea typeface="Canva Sans Bold"/>
                          <a:cs typeface="Canva Sans Bold"/>
                          <a:sym typeface="Canva Sans Bold"/>
                        </a:rPr>
                        <a:t>Publication Year</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Methodology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Datasets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Accuracy</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ctr">
                        <a:lnSpc>
                          <a:spcPts val="2240"/>
                        </a:lnSpc>
                        <a:defRPr/>
                      </a:pPr>
                      <a:r>
                        <a:rPr lang="en-US" sz="1600" b="1">
                          <a:solidFill>
                            <a:srgbClr val="000000"/>
                          </a:solidFill>
                          <a:latin typeface="Canva Sans Bold"/>
                          <a:ea typeface="Canva Sans Bold"/>
                          <a:cs typeface="Canva Sans Bold"/>
                          <a:sym typeface="Canva Sans Bold"/>
                        </a:rPr>
                        <a:t>Limitations</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866131">
                <a:tc>
                  <a:txBody>
                    <a:bodyPr/>
                    <a:lstStyle/>
                    <a:p>
                      <a:pPr algn="l">
                        <a:lnSpc>
                          <a:spcPts val="2659"/>
                        </a:lnSpc>
                        <a:defRPr/>
                      </a:pPr>
                      <a:r>
                        <a:rPr lang="en-US" sz="1899" b="1">
                          <a:solidFill>
                            <a:srgbClr val="000000"/>
                          </a:solidFill>
                          <a:latin typeface="Canva Sans Bold"/>
                          <a:ea typeface="Canva Sans Bold"/>
                          <a:cs typeface="Canva Sans Bold"/>
                          <a:sym typeface="Canva Sans Bold"/>
                        </a:rPr>
                        <a:t>Title</a:t>
                      </a:r>
                      <a:r>
                        <a:rPr lang="en-US" sz="1899">
                          <a:solidFill>
                            <a:srgbClr val="000000"/>
                          </a:solidFill>
                          <a:latin typeface="Canva Sans"/>
                          <a:ea typeface="Canva Sans"/>
                          <a:cs typeface="Canva Sans"/>
                          <a:sym typeface="Canva Sans"/>
                        </a:rPr>
                        <a:t>: Noisy Values Detection and Correction of Traffic Accident Data</a:t>
                      </a:r>
                      <a:endParaRPr lang="en-US" sz="1100"/>
                    </a:p>
                    <a:p>
                      <a:pPr algn="l">
                        <a:lnSpc>
                          <a:spcPts val="2659"/>
                        </a:lnSpc>
                      </a:pPr>
                      <a:endParaRPr lang="en-US" sz="1100"/>
                    </a:p>
                    <a:p>
                      <a:pPr algn="l">
                        <a:lnSpc>
                          <a:spcPts val="2659"/>
                        </a:lnSpc>
                      </a:pPr>
                      <a:r>
                        <a:rPr lang="en-US" sz="1899" b="1">
                          <a:solidFill>
                            <a:srgbClr val="000000"/>
                          </a:solidFill>
                          <a:latin typeface="Canva Sans Bold"/>
                          <a:ea typeface="Canva Sans Bold"/>
                          <a:cs typeface="Canva Sans Bold"/>
                          <a:sym typeface="Canva Sans Bold"/>
                        </a:rPr>
                        <a:t>Authors</a:t>
                      </a:r>
                      <a:r>
                        <a:rPr lang="en-US" sz="1899">
                          <a:solidFill>
                            <a:srgbClr val="000000"/>
                          </a:solidFill>
                          <a:latin typeface="Canva Sans"/>
                          <a:ea typeface="Canva Sans"/>
                          <a:cs typeface="Canva Sans"/>
                          <a:sym typeface="Canva Sans"/>
                        </a:rPr>
                        <a:t>: Rupam Deb, Alan Wee-Chung Liew</a:t>
                      </a:r>
                    </a:p>
                    <a:p>
                      <a:pPr algn="l">
                        <a:lnSpc>
                          <a:spcPts val="2659"/>
                        </a:lnSpc>
                      </a:pPr>
                      <a:endParaRPr lang="en-US" sz="1899">
                        <a:solidFill>
                          <a:srgbClr val="000000"/>
                        </a:solidFill>
                        <a:latin typeface="Canva Sans"/>
                        <a:ea typeface="Canva Sans"/>
                        <a:cs typeface="Canva Sans"/>
                        <a:sym typeface="Canva Sans"/>
                      </a:endParaRPr>
                    </a:p>
                    <a:p>
                      <a:pPr algn="l">
                        <a:lnSpc>
                          <a:spcPts val="2659"/>
                        </a:lnSpc>
                      </a:pPr>
                      <a:r>
                        <a:rPr lang="en-US" sz="1899" b="1">
                          <a:solidFill>
                            <a:srgbClr val="000000"/>
                          </a:solidFill>
                          <a:latin typeface="Canva Sans Bold"/>
                          <a:ea typeface="Canva Sans Bold"/>
                          <a:cs typeface="Canva Sans Bold"/>
                          <a:sym typeface="Canva Sans Bold"/>
                        </a:rPr>
                        <a:t>Publication Year</a:t>
                      </a:r>
                      <a:r>
                        <a:rPr lang="en-US" sz="1899">
                          <a:solidFill>
                            <a:srgbClr val="000000"/>
                          </a:solidFill>
                          <a:latin typeface="Canva Sans"/>
                          <a:ea typeface="Canva Sans"/>
                          <a:cs typeface="Canva Sans"/>
                          <a:sym typeface="Canva Sans"/>
                        </a:rPr>
                        <a:t>: 2019</a:t>
                      </a: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310"/>
                        </a:lnSpc>
                        <a:defRPr/>
                      </a:pPr>
                      <a:r>
                        <a:rPr lang="en-US" sz="1500" b="1">
                          <a:solidFill>
                            <a:srgbClr val="000000"/>
                          </a:solidFill>
                          <a:latin typeface="Canva Sans Bold"/>
                          <a:ea typeface="Canva Sans Bold"/>
                          <a:cs typeface="Canva Sans Bold"/>
                          <a:sym typeface="Canva Sans Bold"/>
                        </a:rPr>
                        <a:t>Data Collection : </a:t>
                      </a:r>
                      <a:r>
                        <a:rPr lang="en-US" sz="1500">
                          <a:solidFill>
                            <a:srgbClr val="000000"/>
                          </a:solidFill>
                          <a:latin typeface="Canva Sans"/>
                          <a:ea typeface="Canva Sans"/>
                          <a:cs typeface="Canva Sans"/>
                          <a:sym typeface="Canva Sans"/>
                        </a:rPr>
                        <a:t>- Paper uses four publicly available datasets</a:t>
                      </a:r>
                      <a:endParaRPr lang="en-US" sz="1100"/>
                    </a:p>
                    <a:p>
                      <a:pPr algn="l">
                        <a:lnSpc>
                          <a:spcPts val="2310"/>
                        </a:lnSpc>
                      </a:pPr>
                      <a:r>
                        <a:rPr lang="en-US" sz="1500">
                          <a:solidFill>
                            <a:srgbClr val="000000"/>
                          </a:solidFill>
                          <a:latin typeface="Canva Sans"/>
                          <a:ea typeface="Canva Sans"/>
                          <a:cs typeface="Canva Sans"/>
                          <a:sym typeface="Canva Sans"/>
                        </a:rPr>
                        <a:t>- Datasets are from Queensland, Australia, and New York, USA</a:t>
                      </a:r>
                    </a:p>
                    <a:p>
                      <a:pPr algn="l">
                        <a:lnSpc>
                          <a:spcPts val="2310"/>
                        </a:lnSpc>
                      </a:pPr>
                      <a:r>
                        <a:rPr lang="en-US" sz="1500">
                          <a:solidFill>
                            <a:srgbClr val="000000"/>
                          </a:solidFill>
                          <a:latin typeface="Canva Sans"/>
                          <a:ea typeface="Canva Sans"/>
                          <a:cs typeface="Canva Sans"/>
                          <a:sym typeface="Canva Sans"/>
                        </a:rPr>
                        <a:t>- Datasets: RCL, RC, MCI, MII</a:t>
                      </a:r>
                    </a:p>
                    <a:p>
                      <a:pPr algn="l">
                        <a:lnSpc>
                          <a:spcPts val="2310"/>
                        </a:lnSpc>
                      </a:pPr>
                      <a:r>
                        <a:rPr lang="en-US" sz="1500" b="1">
                          <a:solidFill>
                            <a:srgbClr val="000000"/>
                          </a:solidFill>
                          <a:latin typeface="Canva Sans Bold"/>
                          <a:ea typeface="Canva Sans Bold"/>
                          <a:cs typeface="Canva Sans Bold"/>
                          <a:sym typeface="Canva Sans Bold"/>
                        </a:rPr>
                        <a:t>Noise Detection</a:t>
                      </a:r>
                    </a:p>
                    <a:p>
                      <a:pPr algn="l">
                        <a:lnSpc>
                          <a:spcPts val="2310"/>
                        </a:lnSpc>
                      </a:pPr>
                      <a:r>
                        <a:rPr lang="en-US" sz="1500">
                          <a:solidFill>
                            <a:srgbClr val="000000"/>
                          </a:solidFill>
                          <a:latin typeface="Canva Sans"/>
                          <a:ea typeface="Canva Sans"/>
                          <a:cs typeface="Canva Sans"/>
                          <a:sym typeface="Canva Sans"/>
                        </a:rPr>
                        <a:t>- Introduces the NoiseCleaner algorithm</a:t>
                      </a:r>
                    </a:p>
                    <a:p>
                      <a:pPr algn="l">
                        <a:lnSpc>
                          <a:spcPts val="2310"/>
                        </a:lnSpc>
                      </a:pPr>
                      <a:r>
                        <a:rPr lang="en-US" sz="1500">
                          <a:solidFill>
                            <a:srgbClr val="000000"/>
                          </a:solidFill>
                          <a:latin typeface="Canva Sans"/>
                          <a:ea typeface="Canva Sans"/>
                          <a:cs typeface="Canva Sans"/>
                          <a:sym typeface="Canva Sans"/>
                        </a:rPr>
                        <a:t>- Purpose: Detect and correct noisy values in categorical data</a:t>
                      </a:r>
                    </a:p>
                    <a:p>
                      <a:pPr algn="l">
                        <a:lnSpc>
                          <a:spcPts val="2310"/>
                        </a:lnSpc>
                      </a:pPr>
                      <a:r>
                        <a:rPr lang="en-US" sz="1500" b="1">
                          <a:solidFill>
                            <a:srgbClr val="000000"/>
                          </a:solidFill>
                          <a:latin typeface="Canva Sans Bold"/>
                          <a:ea typeface="Canva Sans Bold"/>
                          <a:cs typeface="Canva Sans Bold"/>
                          <a:sym typeface="Canva Sans Bold"/>
                        </a:rPr>
                        <a:t>Noise Identification</a:t>
                      </a:r>
                    </a:p>
                    <a:p>
                      <a:pPr algn="l">
                        <a:lnSpc>
                          <a:spcPts val="2310"/>
                        </a:lnSpc>
                      </a:pPr>
                      <a:r>
                        <a:rPr lang="en-US" sz="1500">
                          <a:solidFill>
                            <a:srgbClr val="000000"/>
                          </a:solidFill>
                          <a:latin typeface="Canva Sans"/>
                          <a:ea typeface="Canva Sans"/>
                          <a:cs typeface="Canva Sans"/>
                          <a:sym typeface="Canva Sans"/>
                        </a:rPr>
                        <a:t>- Algorithm flags attributes with low occurrence frequency</a:t>
                      </a:r>
                    </a:p>
                    <a:p>
                      <a:pPr algn="l">
                        <a:lnSpc>
                          <a:spcPts val="2310"/>
                        </a:lnSpc>
                      </a:pPr>
                      <a:r>
                        <a:rPr lang="en-US" sz="1500">
                          <a:solidFill>
                            <a:srgbClr val="000000"/>
                          </a:solidFill>
                          <a:latin typeface="Canva Sans"/>
                          <a:ea typeface="Canva Sans"/>
                          <a:cs typeface="Canva Sans"/>
                          <a:sym typeface="Canva Sans"/>
                        </a:rPr>
                        <a:t>- Example: Values occurring once or twice</a:t>
                      </a:r>
                    </a:p>
                    <a:p>
                      <a:pPr algn="l">
                        <a:lnSpc>
                          <a:spcPts val="2310"/>
                        </a:lnSpc>
                      </a:pPr>
                      <a:r>
                        <a:rPr lang="en-US" sz="1500" b="1">
                          <a:solidFill>
                            <a:srgbClr val="000000"/>
                          </a:solidFill>
                          <a:latin typeface="Canva Sans Bold"/>
                          <a:ea typeface="Canva Sans Bold"/>
                          <a:cs typeface="Canva Sans Bold"/>
                          <a:sym typeface="Canva Sans Bold"/>
                        </a:rPr>
                        <a:t>Correction Process</a:t>
                      </a:r>
                    </a:p>
                    <a:p>
                      <a:pPr algn="l">
                        <a:lnSpc>
                          <a:spcPts val="2310"/>
                        </a:lnSpc>
                      </a:pPr>
                      <a:r>
                        <a:rPr lang="en-US" sz="1500">
                          <a:solidFill>
                            <a:srgbClr val="000000"/>
                          </a:solidFill>
                          <a:latin typeface="Canva Sans"/>
                          <a:ea typeface="Canva Sans"/>
                          <a:cs typeface="Canva Sans"/>
                          <a:sym typeface="Canva Sans"/>
                        </a:rPr>
                        <a:t>- Uses Levenshtein distance</a:t>
                      </a:r>
                    </a:p>
                    <a:p>
                      <a:pPr algn="l">
                        <a:lnSpc>
                          <a:spcPts val="2310"/>
                        </a:lnSpc>
                      </a:pPr>
                      <a:r>
                        <a:rPr lang="en-US" sz="1500">
                          <a:solidFill>
                            <a:srgbClr val="000000"/>
                          </a:solidFill>
                          <a:latin typeface="Canva Sans"/>
                          <a:ea typeface="Canva Sans"/>
                          <a:cs typeface="Canva Sans"/>
                          <a:sym typeface="Canva Sans"/>
                        </a:rPr>
                        <a:t>- Focuses on simple typographical error corrections</a:t>
                      </a:r>
                    </a:p>
                    <a:p>
                      <a:pPr algn="l">
                        <a:lnSpc>
                          <a:spcPts val="2310"/>
                        </a:lnSpc>
                      </a:pPr>
                      <a:r>
                        <a:rPr lang="en-US" sz="1500" b="1">
                          <a:solidFill>
                            <a:srgbClr val="000000"/>
                          </a:solidFill>
                          <a:latin typeface="Canva Sans Bold"/>
                          <a:ea typeface="Canva Sans Bold"/>
                          <a:cs typeface="Canva Sans Bold"/>
                          <a:sym typeface="Canva Sans Bold"/>
                        </a:rPr>
                        <a:t>Similarity Measures</a:t>
                      </a:r>
                    </a:p>
                    <a:p>
                      <a:pPr algn="l">
                        <a:lnSpc>
                          <a:spcPts val="2310"/>
                        </a:lnSpc>
                      </a:pPr>
                      <a:r>
                        <a:rPr lang="en-US" sz="1500">
                          <a:solidFill>
                            <a:srgbClr val="000000"/>
                          </a:solidFill>
                          <a:latin typeface="Canva Sans"/>
                          <a:ea typeface="Canva Sans"/>
                          <a:cs typeface="Canva Sans"/>
                          <a:sym typeface="Canva Sans"/>
                        </a:rPr>
                        <a:t>- Implements P-measure: probability of correctness</a:t>
                      </a:r>
                    </a:p>
                    <a:p>
                      <a:pPr algn="l">
                        <a:lnSpc>
                          <a:spcPts val="2310"/>
                        </a:lnSpc>
                      </a:pPr>
                      <a:r>
                        <a:rPr lang="en-US" sz="1500">
                          <a:solidFill>
                            <a:srgbClr val="000000"/>
                          </a:solidFill>
                          <a:latin typeface="Canva Sans"/>
                          <a:ea typeface="Canva Sans"/>
                          <a:cs typeface="Canva Sans"/>
                          <a:sym typeface="Canva Sans"/>
                        </a:rPr>
                        <a:t>- Implements S-measure: similarity between values</a:t>
                      </a:r>
                    </a:p>
                    <a:p>
                      <a:pPr algn="l">
                        <a:lnSpc>
                          <a:spcPts val="2310"/>
                        </a:lnSpc>
                      </a:pPr>
                      <a:r>
                        <a:rPr lang="en-US" sz="1500">
                          <a:solidFill>
                            <a:srgbClr val="000000"/>
                          </a:solidFill>
                          <a:latin typeface="Canva Sans"/>
                          <a:ea typeface="Canva Sans"/>
                          <a:cs typeface="Canva Sans"/>
                          <a:sym typeface="Canva Sans"/>
                        </a:rPr>
                        <a:t>- Aims to identify and correct noisy values in categorical data</a:t>
                      </a:r>
                    </a:p>
                    <a:p>
                      <a:pPr algn="l">
                        <a:lnSpc>
                          <a:spcPts val="2310"/>
                        </a:lnSpc>
                      </a:pPr>
                      <a:r>
                        <a:rPr lang="en-US" sz="1500" b="1">
                          <a:solidFill>
                            <a:srgbClr val="000000"/>
                          </a:solidFill>
                          <a:latin typeface="Canva Sans Bold"/>
                          <a:ea typeface="Canva Sans Bold"/>
                          <a:cs typeface="Canva Sans Bold"/>
                          <a:sym typeface="Canva Sans Bold"/>
                        </a:rPr>
                        <a:t>Algorithm Testing</a:t>
                      </a:r>
                    </a:p>
                    <a:p>
                      <a:pPr algn="l">
                        <a:lnSpc>
                          <a:spcPts val="2310"/>
                        </a:lnSpc>
                      </a:pPr>
                      <a:r>
                        <a:rPr lang="en-US" sz="1500">
                          <a:solidFill>
                            <a:srgbClr val="000000"/>
                          </a:solidFill>
                          <a:latin typeface="Canva Sans"/>
                          <a:ea typeface="Canva Sans"/>
                          <a:cs typeface="Canva Sans"/>
                          <a:sym typeface="Canva Sans"/>
                        </a:rPr>
                        <a:t>- Evaluated NoiseCleaner algorithm's performance</a:t>
                      </a:r>
                    </a:p>
                    <a:p>
                      <a:pPr algn="l">
                        <a:lnSpc>
                          <a:spcPts val="2310"/>
                        </a:lnSpc>
                      </a:pPr>
                      <a:r>
                        <a:rPr lang="en-US" sz="1500">
                          <a:solidFill>
                            <a:srgbClr val="000000"/>
                          </a:solidFill>
                          <a:latin typeface="Canva Sans"/>
                          <a:ea typeface="Canva Sans"/>
                          <a:cs typeface="Canva Sans"/>
                          <a:sym typeface="Canva Sans"/>
                        </a:rPr>
                        <a:t>- Used synthetic noisy patterns: simple, medium, complex, blended</a:t>
                      </a:r>
                    </a:p>
                    <a:p>
                      <a:pPr algn="l">
                        <a:lnSpc>
                          <a:spcPts val="2310"/>
                        </a:lnSpc>
                      </a:pPr>
                      <a:endParaRPr lang="en-US" sz="15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b="1">
                          <a:solidFill>
                            <a:srgbClr val="000000"/>
                          </a:solidFill>
                          <a:latin typeface="Canva Sans Bold"/>
                          <a:ea typeface="Canva Sans Bold"/>
                          <a:cs typeface="Canva Sans Bold"/>
                          <a:sym typeface="Canva Sans Bold"/>
                        </a:rPr>
                        <a:t>RCL (Road Crash Locations):</a:t>
                      </a:r>
                      <a:r>
                        <a:rPr lang="en-US" sz="1800">
                          <a:solidFill>
                            <a:srgbClr val="000000"/>
                          </a:solidFill>
                          <a:latin typeface="Canva Sans"/>
                          <a:ea typeface="Canva Sans"/>
                          <a:cs typeface="Canva Sans"/>
                          <a:sym typeface="Canva Sans"/>
                        </a:rPr>
                        <a:t> 251,705 records from Queensland, Australia</a:t>
                      </a:r>
                      <a:endParaRPr lang="en-US" sz="1100"/>
                    </a:p>
                    <a:p>
                      <a:pPr algn="l">
                        <a:lnSpc>
                          <a:spcPts val="2520"/>
                        </a:lnSpc>
                      </a:pPr>
                      <a:r>
                        <a:rPr lang="en-US" sz="1800" b="1">
                          <a:solidFill>
                            <a:srgbClr val="000000"/>
                          </a:solidFill>
                          <a:latin typeface="Canva Sans Bold"/>
                          <a:ea typeface="Canva Sans Bold"/>
                          <a:cs typeface="Canva Sans Bold"/>
                          <a:sym typeface="Canva Sans Bold"/>
                        </a:rPr>
                        <a:t>RC (Road Casualties):</a:t>
                      </a:r>
                      <a:r>
                        <a:rPr lang="en-US" sz="1800">
                          <a:solidFill>
                            <a:srgbClr val="000000"/>
                          </a:solidFill>
                          <a:latin typeface="Canva Sans"/>
                          <a:ea typeface="Canva Sans"/>
                          <a:cs typeface="Canva Sans"/>
                          <a:sym typeface="Canva Sans"/>
                        </a:rPr>
                        <a:t> 15,744 records from Queensland, Australia</a:t>
                      </a:r>
                    </a:p>
                    <a:p>
                      <a:pPr algn="l">
                        <a:lnSpc>
                          <a:spcPts val="2520"/>
                        </a:lnSpc>
                      </a:pPr>
                      <a:r>
                        <a:rPr lang="en-US" sz="1800" b="1">
                          <a:solidFill>
                            <a:srgbClr val="000000"/>
                          </a:solidFill>
                          <a:latin typeface="Canva Sans Bold"/>
                          <a:ea typeface="Canva Sans Bold"/>
                          <a:cs typeface="Canva Sans Bold"/>
                          <a:sym typeface="Canva Sans Bold"/>
                        </a:rPr>
                        <a:t>MCI (Motor Vehicle Crash-Case Information: 2011):</a:t>
                      </a:r>
                      <a:r>
                        <a:rPr lang="en-US" sz="1800">
                          <a:solidFill>
                            <a:srgbClr val="000000"/>
                          </a:solidFill>
                          <a:latin typeface="Canva Sans"/>
                          <a:ea typeface="Canva Sans"/>
                          <a:cs typeface="Canva Sans"/>
                          <a:sym typeface="Canva Sans"/>
                        </a:rPr>
                        <a:t> 13,889 records from New York, USA</a:t>
                      </a:r>
                    </a:p>
                    <a:p>
                      <a:pPr algn="l">
                        <a:lnSpc>
                          <a:spcPts val="2520"/>
                        </a:lnSpc>
                      </a:pPr>
                      <a:r>
                        <a:rPr lang="en-US" sz="1800" b="1">
                          <a:solidFill>
                            <a:srgbClr val="000000"/>
                          </a:solidFill>
                          <a:latin typeface="Canva Sans Bold"/>
                          <a:ea typeface="Canva Sans Bold"/>
                          <a:cs typeface="Canva Sans Bold"/>
                          <a:sym typeface="Canva Sans Bold"/>
                        </a:rPr>
                        <a:t>MII (Motor Vehicle Crash-Individual Information: 2011):</a:t>
                      </a:r>
                      <a:r>
                        <a:rPr lang="en-US" sz="1800">
                          <a:solidFill>
                            <a:srgbClr val="000000"/>
                          </a:solidFill>
                          <a:latin typeface="Canva Sans"/>
                          <a:ea typeface="Canva Sans"/>
                          <a:cs typeface="Canva Sans"/>
                          <a:sym typeface="Canva Sans"/>
                        </a:rPr>
                        <a:t> 17,858 records from New York, USA</a:t>
                      </a:r>
                    </a:p>
                    <a:p>
                      <a:pPr algn="l">
                        <a:lnSpc>
                          <a:spcPts val="2520"/>
                        </a:lnSpc>
                      </a:pPr>
                      <a:endParaRPr lang="en-US" sz="18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algn="l">
                        <a:lnSpc>
                          <a:spcPts val="2520"/>
                        </a:lnSpc>
                        <a:defRPr/>
                      </a:pPr>
                      <a:r>
                        <a:rPr lang="en-US" sz="1800">
                          <a:solidFill>
                            <a:srgbClr val="000000"/>
                          </a:solidFill>
                          <a:latin typeface="Canva Sans"/>
                          <a:ea typeface="Canva Sans"/>
                          <a:cs typeface="Canva Sans"/>
                          <a:sym typeface="Canva Sans"/>
                        </a:rPr>
                        <a:t>In all noisy conditions (e.g., 2%, 4%, 6%, 8% noise ratios), NoiseCleaner outperformed other algorithms .</a:t>
                      </a:r>
                      <a:endParaRPr lang="en-US" sz="1100"/>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323850" lvl="1" indent="-161925" algn="l">
                        <a:lnSpc>
                          <a:spcPts val="2100"/>
                        </a:lnSpc>
                        <a:buFont typeface="Arial"/>
                        <a:buChar char="•"/>
                        <a:defRPr/>
                      </a:pPr>
                      <a:r>
                        <a:rPr lang="en-US" sz="1500" b="1">
                          <a:solidFill>
                            <a:srgbClr val="000000"/>
                          </a:solidFill>
                          <a:latin typeface="Canva Sans Bold"/>
                          <a:ea typeface="Canva Sans Bold"/>
                          <a:cs typeface="Canva Sans Bold"/>
                          <a:sym typeface="Canva Sans Bold"/>
                        </a:rPr>
                        <a:t>Real-World Application: </a:t>
                      </a:r>
                      <a:r>
                        <a:rPr lang="en-US" sz="1500">
                          <a:solidFill>
                            <a:srgbClr val="000000"/>
                          </a:solidFill>
                          <a:latin typeface="Canva Sans"/>
                          <a:ea typeface="Canva Sans"/>
                          <a:cs typeface="Canva Sans"/>
                          <a:sym typeface="Canva Sans"/>
                        </a:rPr>
                        <a:t>Assumes low noise volume, which may not be the case for all datasets.</a:t>
                      </a:r>
                      <a:endParaRPr lang="en-US" sz="1100"/>
                    </a:p>
                    <a:p>
                      <a:pPr marL="323850" lvl="1" indent="-161925" algn="l">
                        <a:lnSpc>
                          <a:spcPts val="2100"/>
                        </a:lnSpc>
                        <a:buFont typeface="Arial"/>
                        <a:buChar char="•"/>
                      </a:pPr>
                      <a:r>
                        <a:rPr lang="en-US" sz="1500" b="1">
                          <a:solidFill>
                            <a:srgbClr val="000000"/>
                          </a:solidFill>
                          <a:latin typeface="Canva Sans Bold"/>
                          <a:ea typeface="Canva Sans Bold"/>
                          <a:cs typeface="Canva Sans Bold"/>
                          <a:sym typeface="Canva Sans Bold"/>
                        </a:rPr>
                        <a:t>Noise Type:</a:t>
                      </a:r>
                      <a:r>
                        <a:rPr lang="en-US" sz="1500">
                          <a:solidFill>
                            <a:srgbClr val="000000"/>
                          </a:solidFill>
                          <a:latin typeface="Canva Sans"/>
                          <a:ea typeface="Canva Sans"/>
                          <a:cs typeface="Canva Sans"/>
                          <a:sym typeface="Canva Sans"/>
                        </a:rPr>
                        <a:t> May not perform well on correlated noisy data, as it focuses on random, independent noise.</a:t>
                      </a:r>
                    </a:p>
                    <a:p>
                      <a:pPr marL="323850" lvl="1" indent="-161925" algn="l">
                        <a:lnSpc>
                          <a:spcPts val="2100"/>
                        </a:lnSpc>
                        <a:buFont typeface="Arial"/>
                        <a:buChar char="•"/>
                      </a:pPr>
                      <a:r>
                        <a:rPr lang="en-US" sz="1500" b="1">
                          <a:solidFill>
                            <a:srgbClr val="000000"/>
                          </a:solidFill>
                          <a:latin typeface="Canva Sans Bold"/>
                          <a:ea typeface="Canva Sans Bold"/>
                          <a:cs typeface="Canva Sans Bold"/>
                          <a:sym typeface="Canva Sans Bold"/>
                        </a:rPr>
                        <a:t>Model Dependency: </a:t>
                      </a:r>
                      <a:r>
                        <a:rPr lang="en-US" sz="1500">
                          <a:solidFill>
                            <a:srgbClr val="000000"/>
                          </a:solidFill>
                          <a:latin typeface="Canva Sans"/>
                          <a:ea typeface="Canva Sans"/>
                          <a:cs typeface="Canva Sans"/>
                          <a:sym typeface="Canva Sans"/>
                        </a:rPr>
                        <a:t>Effectiveness varies depending on the dataset, and customization might be needed for different types.</a:t>
                      </a:r>
                    </a:p>
                    <a:p>
                      <a:pPr marL="323850" lvl="1" indent="-161925" algn="l">
                        <a:lnSpc>
                          <a:spcPts val="2100"/>
                        </a:lnSpc>
                        <a:buFont typeface="Arial"/>
                        <a:buChar char="•"/>
                      </a:pPr>
                      <a:r>
                        <a:rPr lang="en-US" sz="1500" b="1">
                          <a:solidFill>
                            <a:srgbClr val="000000"/>
                          </a:solidFill>
                          <a:latin typeface="Canva Sans Bold"/>
                          <a:ea typeface="Canva Sans Bold"/>
                          <a:cs typeface="Canva Sans Bold"/>
                          <a:sym typeface="Canva Sans Bold"/>
                        </a:rPr>
                        <a:t>Computational Cost</a:t>
                      </a:r>
                      <a:r>
                        <a:rPr lang="en-US" sz="1500">
                          <a:solidFill>
                            <a:srgbClr val="000000"/>
                          </a:solidFill>
                          <a:latin typeface="Canva Sans"/>
                          <a:ea typeface="Canva Sans"/>
                          <a:cs typeface="Canva Sans"/>
                          <a:sym typeface="Canva Sans"/>
                        </a:rPr>
                        <a:t>: High computational complexity could be a limitation for working with very large datasets.</a:t>
                      </a:r>
                    </a:p>
                    <a:p>
                      <a:pPr algn="l">
                        <a:lnSpc>
                          <a:spcPts val="2100"/>
                        </a:lnSpc>
                      </a:pPr>
                      <a:endParaRPr lang="en-US" sz="1500">
                        <a:solidFill>
                          <a:srgbClr val="000000"/>
                        </a:solidFill>
                        <a:latin typeface="Canva Sans"/>
                        <a:ea typeface="Canva Sans"/>
                        <a:cs typeface="Canva Sans"/>
                        <a:sym typeface="Canva Sans"/>
                      </a:endParaRPr>
                    </a:p>
                  </a:txBody>
                  <a:tcPr marL="190500" marR="190500" marT="190500" marB="190500">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0" name="TextBox 10"/>
          <p:cNvSpPr txBox="1"/>
          <p:nvPr/>
        </p:nvSpPr>
        <p:spPr>
          <a:xfrm>
            <a:off x="952500" y="9291652"/>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rot="-4484591">
            <a:off x="8757363" y="-5220173"/>
            <a:ext cx="3112322" cy="9830537"/>
            <a:chOff x="0" y="0"/>
            <a:chExt cx="819706" cy="2589113"/>
          </a:xfrm>
        </p:grpSpPr>
        <p:sp>
          <p:nvSpPr>
            <p:cNvPr id="3" name="Freeform 3"/>
            <p:cNvSpPr/>
            <p:nvPr/>
          </p:nvSpPr>
          <p:spPr>
            <a:xfrm>
              <a:off x="0" y="0"/>
              <a:ext cx="819706" cy="2589113"/>
            </a:xfrm>
            <a:custGeom>
              <a:avLst/>
              <a:gdLst/>
              <a:ahLst/>
              <a:cxnLst/>
              <a:rect l="l" t="t" r="r" b="b"/>
              <a:pathLst>
                <a:path w="819706" h="2589113">
                  <a:moveTo>
                    <a:pt x="0" y="0"/>
                  </a:moveTo>
                  <a:lnTo>
                    <a:pt x="819706" y="0"/>
                  </a:lnTo>
                  <a:lnTo>
                    <a:pt x="819706" y="2589113"/>
                  </a:lnTo>
                  <a:lnTo>
                    <a:pt x="0" y="2589113"/>
                  </a:lnTo>
                  <a:close/>
                </a:path>
              </a:pathLst>
            </a:custGeom>
            <a:solidFill>
              <a:srgbClr val="497183"/>
            </a:solidFill>
          </p:spPr>
          <p:txBody>
            <a:bodyPr/>
            <a:lstStyle/>
            <a:p>
              <a:endParaRPr lang="en-SG"/>
            </a:p>
          </p:txBody>
        </p:sp>
        <p:sp>
          <p:nvSpPr>
            <p:cNvPr id="4" name="TextBox 4"/>
            <p:cNvSpPr txBox="1"/>
            <p:nvPr/>
          </p:nvSpPr>
          <p:spPr>
            <a:xfrm>
              <a:off x="0" y="-47625"/>
              <a:ext cx="819706" cy="26367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995542">
            <a:off x="13963792" y="-1538917"/>
            <a:ext cx="6190387" cy="12187601"/>
            <a:chOff x="0" y="0"/>
            <a:chExt cx="1630390" cy="3209903"/>
          </a:xfrm>
        </p:grpSpPr>
        <p:sp>
          <p:nvSpPr>
            <p:cNvPr id="6" name="Freeform 6"/>
            <p:cNvSpPr/>
            <p:nvPr/>
          </p:nvSpPr>
          <p:spPr>
            <a:xfrm>
              <a:off x="0" y="0"/>
              <a:ext cx="1630390" cy="3209903"/>
            </a:xfrm>
            <a:custGeom>
              <a:avLst/>
              <a:gdLst/>
              <a:ahLst/>
              <a:cxnLst/>
              <a:rect l="l" t="t" r="r" b="b"/>
              <a:pathLst>
                <a:path w="1630390" h="3209903">
                  <a:moveTo>
                    <a:pt x="0" y="0"/>
                  </a:moveTo>
                  <a:lnTo>
                    <a:pt x="1630390" y="0"/>
                  </a:lnTo>
                  <a:lnTo>
                    <a:pt x="1630390" y="3209903"/>
                  </a:lnTo>
                  <a:lnTo>
                    <a:pt x="0" y="3209903"/>
                  </a:lnTo>
                  <a:close/>
                </a:path>
              </a:pathLst>
            </a:custGeom>
            <a:solidFill>
              <a:srgbClr val="0B1320"/>
            </a:solidFill>
          </p:spPr>
          <p:txBody>
            <a:bodyPr/>
            <a:lstStyle/>
            <a:p>
              <a:endParaRPr lang="en-SG"/>
            </a:p>
          </p:txBody>
        </p:sp>
        <p:sp>
          <p:nvSpPr>
            <p:cNvPr id="7" name="TextBox 7"/>
            <p:cNvSpPr txBox="1"/>
            <p:nvPr/>
          </p:nvSpPr>
          <p:spPr>
            <a:xfrm>
              <a:off x="0" y="-47625"/>
              <a:ext cx="1630390" cy="3257528"/>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8100000">
            <a:off x="15504676" y="-466775"/>
            <a:ext cx="4655245" cy="5019188"/>
          </a:xfrm>
          <a:custGeom>
            <a:avLst/>
            <a:gdLst/>
            <a:ahLst/>
            <a:cxnLst/>
            <a:rect l="l" t="t" r="r" b="b"/>
            <a:pathLst>
              <a:path w="4655245" h="5019188">
                <a:moveTo>
                  <a:pt x="0" y="0"/>
                </a:moveTo>
                <a:lnTo>
                  <a:pt x="4655245" y="0"/>
                </a:lnTo>
                <a:lnTo>
                  <a:pt x="4655245" y="5019188"/>
                </a:lnTo>
                <a:lnTo>
                  <a:pt x="0" y="5019188"/>
                </a:lnTo>
                <a:lnTo>
                  <a:pt x="0" y="0"/>
                </a:lnTo>
                <a:close/>
              </a:path>
            </a:pathLst>
          </a:custGeom>
          <a:blipFill>
            <a:blip r:embed="rId2">
              <a:alphaModFix amt="17000"/>
              <a:extLst>
                <a:ext uri="{96DAC541-7B7A-43D3-8B79-37D633B846F1}">
                  <asvg:svgBlip xmlns:asvg="http://schemas.microsoft.com/office/drawing/2016/SVG/main" r:embed="rId3"/>
                </a:ext>
              </a:extLst>
            </a:blip>
            <a:stretch>
              <a:fillRect t="-46201" r="-61881"/>
            </a:stretch>
          </a:blipFill>
        </p:spPr>
        <p:txBody>
          <a:bodyPr/>
          <a:lstStyle/>
          <a:p>
            <a:endParaRPr lang="en-SG"/>
          </a:p>
        </p:txBody>
      </p:sp>
      <p:sp>
        <p:nvSpPr>
          <p:cNvPr id="9" name="Freeform 9"/>
          <p:cNvSpPr/>
          <p:nvPr/>
        </p:nvSpPr>
        <p:spPr>
          <a:xfrm flipH="1">
            <a:off x="890859" y="3592222"/>
            <a:ext cx="8247572" cy="2639223"/>
          </a:xfrm>
          <a:custGeom>
            <a:avLst/>
            <a:gdLst/>
            <a:ahLst/>
            <a:cxnLst/>
            <a:rect l="l" t="t" r="r" b="b"/>
            <a:pathLst>
              <a:path w="8247572" h="2639223">
                <a:moveTo>
                  <a:pt x="8247572" y="0"/>
                </a:moveTo>
                <a:lnTo>
                  <a:pt x="0" y="0"/>
                </a:lnTo>
                <a:lnTo>
                  <a:pt x="0" y="2639223"/>
                </a:lnTo>
                <a:lnTo>
                  <a:pt x="8247572" y="2639223"/>
                </a:lnTo>
                <a:lnTo>
                  <a:pt x="824757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0" name="Freeform 10"/>
          <p:cNvSpPr/>
          <p:nvPr/>
        </p:nvSpPr>
        <p:spPr>
          <a:xfrm flipH="1">
            <a:off x="9267012" y="6231445"/>
            <a:ext cx="8247572" cy="2639223"/>
          </a:xfrm>
          <a:custGeom>
            <a:avLst/>
            <a:gdLst/>
            <a:ahLst/>
            <a:cxnLst/>
            <a:rect l="l" t="t" r="r" b="b"/>
            <a:pathLst>
              <a:path w="8247572" h="2639223">
                <a:moveTo>
                  <a:pt x="8247572" y="0"/>
                </a:moveTo>
                <a:lnTo>
                  <a:pt x="0" y="0"/>
                </a:lnTo>
                <a:lnTo>
                  <a:pt x="0" y="2639223"/>
                </a:lnTo>
                <a:lnTo>
                  <a:pt x="8247572" y="2639223"/>
                </a:lnTo>
                <a:lnTo>
                  <a:pt x="824757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1" name="TextBox 11"/>
          <p:cNvSpPr txBox="1"/>
          <p:nvPr/>
        </p:nvSpPr>
        <p:spPr>
          <a:xfrm>
            <a:off x="1063906" y="1057275"/>
            <a:ext cx="7303501" cy="1213071"/>
          </a:xfrm>
          <a:prstGeom prst="rect">
            <a:avLst/>
          </a:prstGeom>
        </p:spPr>
        <p:txBody>
          <a:bodyPr lIns="0" tIns="0" rIns="0" bIns="0" rtlCol="0" anchor="t">
            <a:spAutoFit/>
          </a:bodyPr>
          <a:lstStyle/>
          <a:p>
            <a:pPr algn="l">
              <a:lnSpc>
                <a:spcPts val="9475"/>
              </a:lnSpc>
            </a:pPr>
            <a:r>
              <a:rPr lang="en-US" sz="8168" b="1">
                <a:solidFill>
                  <a:srgbClr val="0B1320"/>
                </a:solidFill>
                <a:latin typeface="League Spartan"/>
                <a:ea typeface="League Spartan"/>
                <a:cs typeface="League Spartan"/>
                <a:sym typeface="League Spartan"/>
              </a:rPr>
              <a:t>Methodology</a:t>
            </a:r>
          </a:p>
        </p:txBody>
      </p:sp>
      <p:sp>
        <p:nvSpPr>
          <p:cNvPr id="12" name="TextBox 12"/>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25-02- 2025</a:t>
            </a:r>
          </a:p>
        </p:txBody>
      </p:sp>
      <p:sp>
        <p:nvSpPr>
          <p:cNvPr id="13" name="TextBox 13"/>
          <p:cNvSpPr txBox="1"/>
          <p:nvPr/>
        </p:nvSpPr>
        <p:spPr>
          <a:xfrm>
            <a:off x="1661883" y="3988914"/>
            <a:ext cx="6705524" cy="1422662"/>
          </a:xfrm>
          <a:prstGeom prst="rect">
            <a:avLst/>
          </a:prstGeom>
        </p:spPr>
        <p:txBody>
          <a:bodyPr lIns="0" tIns="0" rIns="0" bIns="0" rtlCol="0" anchor="t">
            <a:spAutoFit/>
          </a:bodyPr>
          <a:lstStyle/>
          <a:p>
            <a:pPr marL="464534" lvl="1" indent="-232267" algn="l">
              <a:lnSpc>
                <a:spcPts val="3829"/>
              </a:lnSpc>
              <a:buFont typeface="Arial"/>
              <a:buChar char="•"/>
            </a:pPr>
            <a:r>
              <a:rPr lang="en-US" sz="2151">
                <a:solidFill>
                  <a:srgbClr val="0B1320"/>
                </a:solidFill>
                <a:latin typeface="Kollektif"/>
                <a:ea typeface="Kollektif"/>
                <a:cs typeface="Kollektif"/>
                <a:sym typeface="Kollektif"/>
              </a:rPr>
              <a:t>Dataset Creation</a:t>
            </a:r>
          </a:p>
          <a:p>
            <a:pPr marL="464534" lvl="1" indent="-232267" algn="l">
              <a:lnSpc>
                <a:spcPts val="3829"/>
              </a:lnSpc>
              <a:buFont typeface="Arial"/>
              <a:buChar char="•"/>
            </a:pPr>
            <a:r>
              <a:rPr lang="en-US" sz="2151">
                <a:solidFill>
                  <a:srgbClr val="0B1320"/>
                </a:solidFill>
                <a:latin typeface="Kollektif"/>
                <a:ea typeface="Kollektif"/>
                <a:cs typeface="Kollektif"/>
                <a:sym typeface="Kollektif"/>
              </a:rPr>
              <a:t>Data annotation</a:t>
            </a:r>
          </a:p>
          <a:p>
            <a:pPr marL="464534" lvl="1" indent="-232267" algn="l">
              <a:lnSpc>
                <a:spcPts val="3829"/>
              </a:lnSpc>
              <a:buFont typeface="Arial"/>
              <a:buChar char="•"/>
            </a:pPr>
            <a:r>
              <a:rPr lang="en-US" sz="2151">
                <a:solidFill>
                  <a:srgbClr val="0B1320"/>
                </a:solidFill>
                <a:latin typeface="Kollektif"/>
                <a:ea typeface="Kollektif"/>
                <a:cs typeface="Kollektif"/>
                <a:sym typeface="Kollektif"/>
              </a:rPr>
              <a:t>Noise Removal</a:t>
            </a:r>
          </a:p>
        </p:txBody>
      </p:sp>
      <p:sp>
        <p:nvSpPr>
          <p:cNvPr id="14" name="TextBox 14"/>
          <p:cNvSpPr txBox="1"/>
          <p:nvPr/>
        </p:nvSpPr>
        <p:spPr>
          <a:xfrm>
            <a:off x="10038036" y="6628137"/>
            <a:ext cx="6705524" cy="1402586"/>
          </a:xfrm>
          <a:prstGeom prst="rect">
            <a:avLst/>
          </a:prstGeom>
        </p:spPr>
        <p:txBody>
          <a:bodyPr lIns="0" tIns="0" rIns="0" bIns="0" rtlCol="0" anchor="t">
            <a:spAutoFit/>
          </a:bodyPr>
          <a:lstStyle/>
          <a:p>
            <a:pPr algn="l">
              <a:lnSpc>
                <a:spcPts val="3829"/>
              </a:lnSpc>
            </a:pPr>
            <a:r>
              <a:rPr lang="en-US" sz="2151">
                <a:solidFill>
                  <a:srgbClr val="0B1320"/>
                </a:solidFill>
                <a:latin typeface="Kollektif"/>
                <a:ea typeface="Kollektif"/>
                <a:cs typeface="Kollektif"/>
                <a:sym typeface="Kollektif"/>
              </a:rPr>
              <a:t>Trained YOLOv8 for real-time object detection; if effectiveness is low, used Two-Stream CNN for comparison in accident detection.</a:t>
            </a:r>
          </a:p>
        </p:txBody>
      </p:sp>
      <p:sp>
        <p:nvSpPr>
          <p:cNvPr id="15" name="TextBox 15"/>
          <p:cNvSpPr txBox="1"/>
          <p:nvPr/>
        </p:nvSpPr>
        <p:spPr>
          <a:xfrm>
            <a:off x="6024132" y="5529770"/>
            <a:ext cx="2607040" cy="701675"/>
          </a:xfrm>
          <a:prstGeom prst="rect">
            <a:avLst/>
          </a:prstGeom>
        </p:spPr>
        <p:txBody>
          <a:bodyPr lIns="0" tIns="0" rIns="0" bIns="0" rtlCol="0" anchor="t">
            <a:spAutoFit/>
          </a:bodyPr>
          <a:lstStyle/>
          <a:p>
            <a:pPr algn="ctr">
              <a:lnSpc>
                <a:spcPts val="2800"/>
              </a:lnSpc>
            </a:pPr>
            <a:r>
              <a:rPr lang="en-US" sz="2000" b="1">
                <a:solidFill>
                  <a:srgbClr val="F3F6FA"/>
                </a:solidFill>
                <a:latin typeface="League Spartan"/>
                <a:ea typeface="League Spartan"/>
                <a:cs typeface="League Spartan"/>
                <a:sym typeface="League Spartan"/>
              </a:rPr>
              <a:t>Dataset Preparation</a:t>
            </a:r>
          </a:p>
        </p:txBody>
      </p:sp>
      <p:sp>
        <p:nvSpPr>
          <p:cNvPr id="16" name="TextBox 16"/>
          <p:cNvSpPr txBox="1"/>
          <p:nvPr/>
        </p:nvSpPr>
        <p:spPr>
          <a:xfrm>
            <a:off x="14623053" y="8224228"/>
            <a:ext cx="2456803" cy="389255"/>
          </a:xfrm>
          <a:prstGeom prst="rect">
            <a:avLst/>
          </a:prstGeom>
        </p:spPr>
        <p:txBody>
          <a:bodyPr lIns="0" tIns="0" rIns="0" bIns="0" rtlCol="0" anchor="t">
            <a:spAutoFit/>
          </a:bodyPr>
          <a:lstStyle/>
          <a:p>
            <a:pPr algn="ctr">
              <a:lnSpc>
                <a:spcPts val="3219"/>
              </a:lnSpc>
            </a:pPr>
            <a:r>
              <a:rPr lang="en-US" sz="2299" b="1">
                <a:solidFill>
                  <a:srgbClr val="F3F6FA"/>
                </a:solidFill>
                <a:latin typeface="League Spartan"/>
                <a:ea typeface="League Spartan"/>
                <a:cs typeface="League Spartan"/>
                <a:sym typeface="League Spartan"/>
              </a:rPr>
              <a:t>Model training</a:t>
            </a: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rot="-4484591">
            <a:off x="8757363" y="-5220173"/>
            <a:ext cx="3112322" cy="9830537"/>
            <a:chOff x="0" y="0"/>
            <a:chExt cx="819706" cy="2589113"/>
          </a:xfrm>
        </p:grpSpPr>
        <p:sp>
          <p:nvSpPr>
            <p:cNvPr id="3" name="Freeform 3"/>
            <p:cNvSpPr/>
            <p:nvPr/>
          </p:nvSpPr>
          <p:spPr>
            <a:xfrm>
              <a:off x="0" y="0"/>
              <a:ext cx="819706" cy="2589113"/>
            </a:xfrm>
            <a:custGeom>
              <a:avLst/>
              <a:gdLst/>
              <a:ahLst/>
              <a:cxnLst/>
              <a:rect l="l" t="t" r="r" b="b"/>
              <a:pathLst>
                <a:path w="819706" h="2589113">
                  <a:moveTo>
                    <a:pt x="0" y="0"/>
                  </a:moveTo>
                  <a:lnTo>
                    <a:pt x="819706" y="0"/>
                  </a:lnTo>
                  <a:lnTo>
                    <a:pt x="819706" y="2589113"/>
                  </a:lnTo>
                  <a:lnTo>
                    <a:pt x="0" y="2589113"/>
                  </a:lnTo>
                  <a:close/>
                </a:path>
              </a:pathLst>
            </a:custGeom>
            <a:solidFill>
              <a:srgbClr val="497183"/>
            </a:solidFill>
          </p:spPr>
          <p:txBody>
            <a:bodyPr/>
            <a:lstStyle/>
            <a:p>
              <a:endParaRPr lang="en-SG"/>
            </a:p>
          </p:txBody>
        </p:sp>
        <p:sp>
          <p:nvSpPr>
            <p:cNvPr id="4" name="TextBox 4"/>
            <p:cNvSpPr txBox="1"/>
            <p:nvPr/>
          </p:nvSpPr>
          <p:spPr>
            <a:xfrm>
              <a:off x="0" y="-47625"/>
              <a:ext cx="819706" cy="263673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rot="995542">
            <a:off x="13963792" y="-1538917"/>
            <a:ext cx="6190387" cy="12187601"/>
            <a:chOff x="0" y="0"/>
            <a:chExt cx="1630390" cy="3209903"/>
          </a:xfrm>
        </p:grpSpPr>
        <p:sp>
          <p:nvSpPr>
            <p:cNvPr id="6" name="Freeform 6"/>
            <p:cNvSpPr/>
            <p:nvPr/>
          </p:nvSpPr>
          <p:spPr>
            <a:xfrm>
              <a:off x="0" y="0"/>
              <a:ext cx="1630390" cy="3209903"/>
            </a:xfrm>
            <a:custGeom>
              <a:avLst/>
              <a:gdLst/>
              <a:ahLst/>
              <a:cxnLst/>
              <a:rect l="l" t="t" r="r" b="b"/>
              <a:pathLst>
                <a:path w="1630390" h="3209903">
                  <a:moveTo>
                    <a:pt x="0" y="0"/>
                  </a:moveTo>
                  <a:lnTo>
                    <a:pt x="1630390" y="0"/>
                  </a:lnTo>
                  <a:lnTo>
                    <a:pt x="1630390" y="3209903"/>
                  </a:lnTo>
                  <a:lnTo>
                    <a:pt x="0" y="3209903"/>
                  </a:lnTo>
                  <a:close/>
                </a:path>
              </a:pathLst>
            </a:custGeom>
            <a:solidFill>
              <a:srgbClr val="0B1320"/>
            </a:solidFill>
          </p:spPr>
          <p:txBody>
            <a:bodyPr/>
            <a:lstStyle/>
            <a:p>
              <a:endParaRPr lang="en-SG"/>
            </a:p>
          </p:txBody>
        </p:sp>
        <p:sp>
          <p:nvSpPr>
            <p:cNvPr id="7" name="TextBox 7"/>
            <p:cNvSpPr txBox="1"/>
            <p:nvPr/>
          </p:nvSpPr>
          <p:spPr>
            <a:xfrm>
              <a:off x="0" y="-47625"/>
              <a:ext cx="1630390" cy="3257528"/>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rot="-8100000">
            <a:off x="15504676" y="-466775"/>
            <a:ext cx="4655245" cy="5019188"/>
          </a:xfrm>
          <a:custGeom>
            <a:avLst/>
            <a:gdLst/>
            <a:ahLst/>
            <a:cxnLst/>
            <a:rect l="l" t="t" r="r" b="b"/>
            <a:pathLst>
              <a:path w="4655245" h="5019188">
                <a:moveTo>
                  <a:pt x="0" y="0"/>
                </a:moveTo>
                <a:lnTo>
                  <a:pt x="4655245" y="0"/>
                </a:lnTo>
                <a:lnTo>
                  <a:pt x="4655245" y="5019188"/>
                </a:lnTo>
                <a:lnTo>
                  <a:pt x="0" y="5019188"/>
                </a:lnTo>
                <a:lnTo>
                  <a:pt x="0" y="0"/>
                </a:lnTo>
                <a:close/>
              </a:path>
            </a:pathLst>
          </a:custGeom>
          <a:blipFill>
            <a:blip r:embed="rId2">
              <a:alphaModFix amt="17000"/>
              <a:extLst>
                <a:ext uri="{96DAC541-7B7A-43D3-8B79-37D633B846F1}">
                  <asvg:svgBlip xmlns:asvg="http://schemas.microsoft.com/office/drawing/2016/SVG/main" r:embed="rId3"/>
                </a:ext>
              </a:extLst>
            </a:blip>
            <a:stretch>
              <a:fillRect t="-46201" r="-61881"/>
            </a:stretch>
          </a:blipFill>
        </p:spPr>
        <p:txBody>
          <a:bodyPr/>
          <a:lstStyle/>
          <a:p>
            <a:endParaRPr lang="en-SG"/>
          </a:p>
        </p:txBody>
      </p:sp>
      <p:sp>
        <p:nvSpPr>
          <p:cNvPr id="9" name="Freeform 9"/>
          <p:cNvSpPr/>
          <p:nvPr/>
        </p:nvSpPr>
        <p:spPr>
          <a:xfrm flipH="1">
            <a:off x="890859" y="3592222"/>
            <a:ext cx="8247572" cy="2639223"/>
          </a:xfrm>
          <a:custGeom>
            <a:avLst/>
            <a:gdLst/>
            <a:ahLst/>
            <a:cxnLst/>
            <a:rect l="l" t="t" r="r" b="b"/>
            <a:pathLst>
              <a:path w="8247572" h="2639223">
                <a:moveTo>
                  <a:pt x="8247572" y="0"/>
                </a:moveTo>
                <a:lnTo>
                  <a:pt x="0" y="0"/>
                </a:lnTo>
                <a:lnTo>
                  <a:pt x="0" y="2639223"/>
                </a:lnTo>
                <a:lnTo>
                  <a:pt x="8247572" y="2639223"/>
                </a:lnTo>
                <a:lnTo>
                  <a:pt x="8247572"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0" name="TextBox 10"/>
          <p:cNvSpPr txBox="1"/>
          <p:nvPr/>
        </p:nvSpPr>
        <p:spPr>
          <a:xfrm>
            <a:off x="1063906" y="1057275"/>
            <a:ext cx="7303501" cy="1213071"/>
          </a:xfrm>
          <a:prstGeom prst="rect">
            <a:avLst/>
          </a:prstGeom>
        </p:spPr>
        <p:txBody>
          <a:bodyPr lIns="0" tIns="0" rIns="0" bIns="0" rtlCol="0" anchor="t">
            <a:spAutoFit/>
          </a:bodyPr>
          <a:lstStyle/>
          <a:p>
            <a:pPr algn="l">
              <a:lnSpc>
                <a:spcPts val="9475"/>
              </a:lnSpc>
            </a:pPr>
            <a:r>
              <a:rPr lang="en-US" sz="8168" b="1">
                <a:solidFill>
                  <a:srgbClr val="0B1320"/>
                </a:solidFill>
                <a:latin typeface="League Spartan"/>
                <a:ea typeface="League Spartan"/>
                <a:cs typeface="League Spartan"/>
                <a:sym typeface="League Spartan"/>
              </a:rPr>
              <a:t>Methodology</a:t>
            </a:r>
          </a:p>
        </p:txBody>
      </p:sp>
      <p:sp>
        <p:nvSpPr>
          <p:cNvPr id="11" name="TextBox 11"/>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25-02-2025</a:t>
            </a:r>
          </a:p>
        </p:txBody>
      </p:sp>
      <p:sp>
        <p:nvSpPr>
          <p:cNvPr id="12" name="TextBox 12"/>
          <p:cNvSpPr txBox="1"/>
          <p:nvPr/>
        </p:nvSpPr>
        <p:spPr>
          <a:xfrm>
            <a:off x="1661883" y="3988914"/>
            <a:ext cx="6705524" cy="936887"/>
          </a:xfrm>
          <a:prstGeom prst="rect">
            <a:avLst/>
          </a:prstGeom>
        </p:spPr>
        <p:txBody>
          <a:bodyPr lIns="0" tIns="0" rIns="0" bIns="0" rtlCol="0" anchor="t">
            <a:spAutoFit/>
          </a:bodyPr>
          <a:lstStyle/>
          <a:p>
            <a:pPr algn="l">
              <a:lnSpc>
                <a:spcPts val="3829"/>
              </a:lnSpc>
            </a:pPr>
            <a:r>
              <a:rPr lang="en-US" sz="2151">
                <a:solidFill>
                  <a:srgbClr val="0B1320"/>
                </a:solidFill>
                <a:latin typeface="Kollektif"/>
                <a:ea typeface="Kollektif"/>
                <a:cs typeface="Kollektif"/>
                <a:sym typeface="Kollektif"/>
              </a:rPr>
              <a:t>Compared the performance of YOLOv8 and Two-Stream CNN based on Precision, Recalll and mAP</a:t>
            </a:r>
          </a:p>
        </p:txBody>
      </p:sp>
      <p:sp>
        <p:nvSpPr>
          <p:cNvPr id="13" name="TextBox 13"/>
          <p:cNvSpPr txBox="1"/>
          <p:nvPr/>
        </p:nvSpPr>
        <p:spPr>
          <a:xfrm>
            <a:off x="6024132" y="5568554"/>
            <a:ext cx="2607040" cy="481330"/>
          </a:xfrm>
          <a:prstGeom prst="rect">
            <a:avLst/>
          </a:prstGeom>
        </p:spPr>
        <p:txBody>
          <a:bodyPr lIns="0" tIns="0" rIns="0" bIns="0" rtlCol="0" anchor="t">
            <a:spAutoFit/>
          </a:bodyPr>
          <a:lstStyle/>
          <a:p>
            <a:pPr algn="ctr">
              <a:lnSpc>
                <a:spcPts val="3920"/>
              </a:lnSpc>
            </a:pPr>
            <a:r>
              <a:rPr lang="en-US" sz="2800" b="1">
                <a:solidFill>
                  <a:srgbClr val="F3F6FA"/>
                </a:solidFill>
                <a:latin typeface="League Spartan"/>
                <a:ea typeface="League Spartan"/>
                <a:cs typeface="League Spartan"/>
                <a:sym typeface="League Spartan"/>
              </a:rPr>
              <a:t>Evalution</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rot="-6990377">
            <a:off x="5454903" y="7016350"/>
            <a:ext cx="3580560" cy="7053965"/>
            <a:chOff x="0" y="0"/>
            <a:chExt cx="943028" cy="1857834"/>
          </a:xfrm>
        </p:grpSpPr>
        <p:sp>
          <p:nvSpPr>
            <p:cNvPr id="3" name="Freeform 3"/>
            <p:cNvSpPr/>
            <p:nvPr/>
          </p:nvSpPr>
          <p:spPr>
            <a:xfrm>
              <a:off x="0" y="0"/>
              <a:ext cx="943028" cy="1857834"/>
            </a:xfrm>
            <a:custGeom>
              <a:avLst/>
              <a:gdLst/>
              <a:ahLst/>
              <a:cxnLst/>
              <a:rect l="l" t="t" r="r" b="b"/>
              <a:pathLst>
                <a:path w="943028" h="1857834">
                  <a:moveTo>
                    <a:pt x="0" y="0"/>
                  </a:moveTo>
                  <a:lnTo>
                    <a:pt x="943028" y="0"/>
                  </a:lnTo>
                  <a:lnTo>
                    <a:pt x="943028" y="1857834"/>
                  </a:lnTo>
                  <a:lnTo>
                    <a:pt x="0" y="1857834"/>
                  </a:lnTo>
                  <a:close/>
                </a:path>
              </a:pathLst>
            </a:custGeom>
            <a:solidFill>
              <a:srgbClr val="497183"/>
            </a:solidFill>
          </p:spPr>
          <p:txBody>
            <a:bodyPr/>
            <a:lstStyle/>
            <a:p>
              <a:endParaRPr lang="en-SG"/>
            </a:p>
          </p:txBody>
        </p:sp>
        <p:sp>
          <p:nvSpPr>
            <p:cNvPr id="4" name="TextBox 4"/>
            <p:cNvSpPr txBox="1"/>
            <p:nvPr/>
          </p:nvSpPr>
          <p:spPr>
            <a:xfrm>
              <a:off x="0" y="-47625"/>
              <a:ext cx="943028" cy="190545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5542046" y="0"/>
            <a:ext cx="12745954" cy="10287000"/>
          </a:xfrm>
          <a:custGeom>
            <a:avLst/>
            <a:gdLst/>
            <a:ahLst/>
            <a:cxnLst/>
            <a:rect l="l" t="t" r="r" b="b"/>
            <a:pathLst>
              <a:path w="12745954" h="10287000">
                <a:moveTo>
                  <a:pt x="0" y="0"/>
                </a:moveTo>
                <a:lnTo>
                  <a:pt x="12745954" y="0"/>
                </a:lnTo>
                <a:lnTo>
                  <a:pt x="12745954" y="10287000"/>
                </a:lnTo>
                <a:lnTo>
                  <a:pt x="0" y="10287000"/>
                </a:lnTo>
                <a:lnTo>
                  <a:pt x="0" y="0"/>
                </a:lnTo>
                <a:close/>
              </a:path>
            </a:pathLst>
          </a:custGeom>
          <a:blipFill>
            <a:blip r:embed="rId2"/>
            <a:stretch>
              <a:fillRect/>
            </a:stretch>
          </a:blipFill>
        </p:spPr>
        <p:txBody>
          <a:bodyPr/>
          <a:lstStyle/>
          <a:p>
            <a:endParaRPr lang="en-SG"/>
          </a:p>
        </p:txBody>
      </p:sp>
      <p:sp>
        <p:nvSpPr>
          <p:cNvPr id="6" name="TextBox 6"/>
          <p:cNvSpPr txBox="1"/>
          <p:nvPr/>
        </p:nvSpPr>
        <p:spPr>
          <a:xfrm>
            <a:off x="290961" y="1352234"/>
            <a:ext cx="3735334" cy="1172686"/>
          </a:xfrm>
          <a:prstGeom prst="rect">
            <a:avLst/>
          </a:prstGeom>
        </p:spPr>
        <p:txBody>
          <a:bodyPr lIns="0" tIns="0" rIns="0" bIns="0" rtlCol="0" anchor="t">
            <a:spAutoFit/>
          </a:bodyPr>
          <a:lstStyle/>
          <a:p>
            <a:pPr algn="l">
              <a:lnSpc>
                <a:spcPts val="4603"/>
              </a:lnSpc>
            </a:pPr>
            <a:r>
              <a:rPr lang="en-US" sz="3968" b="1">
                <a:solidFill>
                  <a:srgbClr val="0B1320"/>
                </a:solidFill>
                <a:latin typeface="League Spartan"/>
                <a:ea typeface="League Spartan"/>
                <a:cs typeface="League Spartan"/>
                <a:sym typeface="League Spartan"/>
              </a:rPr>
              <a:t>Methodology</a:t>
            </a:r>
          </a:p>
          <a:p>
            <a:pPr algn="l">
              <a:lnSpc>
                <a:spcPts val="4603"/>
              </a:lnSpc>
            </a:pPr>
            <a:r>
              <a:rPr lang="en-US" sz="3968" b="1">
                <a:solidFill>
                  <a:srgbClr val="0B1320"/>
                </a:solidFill>
                <a:latin typeface="League Spartan"/>
                <a:ea typeface="League Spartan"/>
                <a:cs typeface="League Spartan"/>
                <a:sym typeface="League Spartan"/>
              </a:rPr>
              <a:t>Diagram</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320"/>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4471504" y="4902537"/>
            <a:ext cx="2891560" cy="2891560"/>
          </a:xfrm>
          <a:prstGeom prst="rect">
            <a:avLst/>
          </a:prstGeom>
        </p:spPr>
      </p:pic>
      <p:grpSp>
        <p:nvGrpSpPr>
          <p:cNvPr id="3" name="Group 3"/>
          <p:cNvGrpSpPr/>
          <p:nvPr/>
        </p:nvGrpSpPr>
        <p:grpSpPr>
          <a:xfrm rot="7796778">
            <a:off x="15069896" y="-2302002"/>
            <a:ext cx="4160046" cy="7759379"/>
            <a:chOff x="0" y="0"/>
            <a:chExt cx="1095650" cy="2043623"/>
          </a:xfrm>
        </p:grpSpPr>
        <p:sp>
          <p:nvSpPr>
            <p:cNvPr id="4" name="Freeform 4"/>
            <p:cNvSpPr/>
            <p:nvPr/>
          </p:nvSpPr>
          <p:spPr>
            <a:xfrm>
              <a:off x="0" y="0"/>
              <a:ext cx="1095650" cy="2043623"/>
            </a:xfrm>
            <a:custGeom>
              <a:avLst/>
              <a:gdLst/>
              <a:ahLst/>
              <a:cxnLst/>
              <a:rect l="l" t="t" r="r" b="b"/>
              <a:pathLst>
                <a:path w="1095650" h="2043623">
                  <a:moveTo>
                    <a:pt x="0" y="0"/>
                  </a:moveTo>
                  <a:lnTo>
                    <a:pt x="1095650" y="0"/>
                  </a:lnTo>
                  <a:lnTo>
                    <a:pt x="1095650" y="2043623"/>
                  </a:lnTo>
                  <a:lnTo>
                    <a:pt x="0" y="2043623"/>
                  </a:lnTo>
                  <a:close/>
                </a:path>
              </a:pathLst>
            </a:custGeom>
            <a:solidFill>
              <a:srgbClr val="F3F6FA"/>
            </a:solidFill>
          </p:spPr>
          <p:txBody>
            <a:bodyPr/>
            <a:lstStyle/>
            <a:p>
              <a:endParaRPr lang="en-SG"/>
            </a:p>
          </p:txBody>
        </p:sp>
        <p:sp>
          <p:nvSpPr>
            <p:cNvPr id="5" name="TextBox 5"/>
            <p:cNvSpPr txBox="1"/>
            <p:nvPr/>
          </p:nvSpPr>
          <p:spPr>
            <a:xfrm>
              <a:off x="0" y="-47625"/>
              <a:ext cx="1095650" cy="2091248"/>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10379421">
            <a:off x="-287089" y="-1241352"/>
            <a:ext cx="14381390" cy="1957814"/>
            <a:chOff x="0" y="0"/>
            <a:chExt cx="3787691" cy="515638"/>
          </a:xfrm>
        </p:grpSpPr>
        <p:sp>
          <p:nvSpPr>
            <p:cNvPr id="7" name="Freeform 7"/>
            <p:cNvSpPr/>
            <p:nvPr/>
          </p:nvSpPr>
          <p:spPr>
            <a:xfrm>
              <a:off x="0" y="0"/>
              <a:ext cx="3787691" cy="515638"/>
            </a:xfrm>
            <a:custGeom>
              <a:avLst/>
              <a:gdLst/>
              <a:ahLst/>
              <a:cxnLst/>
              <a:rect l="l" t="t" r="r" b="b"/>
              <a:pathLst>
                <a:path w="3787691" h="515638">
                  <a:moveTo>
                    <a:pt x="0" y="0"/>
                  </a:moveTo>
                  <a:lnTo>
                    <a:pt x="3787691" y="0"/>
                  </a:lnTo>
                  <a:lnTo>
                    <a:pt x="3787691" y="515638"/>
                  </a:lnTo>
                  <a:lnTo>
                    <a:pt x="0" y="515638"/>
                  </a:lnTo>
                  <a:close/>
                </a:path>
              </a:pathLst>
            </a:custGeom>
            <a:solidFill>
              <a:srgbClr val="497183"/>
            </a:solidFill>
          </p:spPr>
          <p:txBody>
            <a:bodyPr/>
            <a:lstStyle/>
            <a:p>
              <a:endParaRPr lang="en-SG"/>
            </a:p>
          </p:txBody>
        </p:sp>
        <p:sp>
          <p:nvSpPr>
            <p:cNvPr id="8" name="TextBox 8"/>
            <p:cNvSpPr txBox="1"/>
            <p:nvPr/>
          </p:nvSpPr>
          <p:spPr>
            <a:xfrm>
              <a:off x="0" y="-47625"/>
              <a:ext cx="3787691" cy="563263"/>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3004931" flipH="1" flipV="1">
            <a:off x="16575300" y="-1865215"/>
            <a:ext cx="4379678" cy="6903771"/>
          </a:xfrm>
          <a:custGeom>
            <a:avLst/>
            <a:gdLst/>
            <a:ahLst/>
            <a:cxnLst/>
            <a:rect l="l" t="t" r="r" b="b"/>
            <a:pathLst>
              <a:path w="4379678" h="6903771">
                <a:moveTo>
                  <a:pt x="4379678" y="6903771"/>
                </a:moveTo>
                <a:lnTo>
                  <a:pt x="0" y="6903771"/>
                </a:lnTo>
                <a:lnTo>
                  <a:pt x="0" y="0"/>
                </a:lnTo>
                <a:lnTo>
                  <a:pt x="4379678" y="0"/>
                </a:lnTo>
                <a:lnTo>
                  <a:pt x="4379678" y="6903771"/>
                </a:lnTo>
                <a:close/>
              </a:path>
            </a:pathLst>
          </a:custGeom>
          <a:blipFill>
            <a:blip r:embed="rId3">
              <a:alphaModFix amt="64000"/>
              <a:extLst>
                <a:ext uri="{96DAC541-7B7A-43D3-8B79-37D633B846F1}">
                  <asvg:svgBlip xmlns:asvg="http://schemas.microsoft.com/office/drawing/2016/SVG/main" r:embed="rId4"/>
                </a:ext>
              </a:extLst>
            </a:blip>
            <a:stretch>
              <a:fillRect r="-61881"/>
            </a:stretch>
          </a:blipFill>
        </p:spPr>
        <p:txBody>
          <a:bodyPr/>
          <a:lstStyle/>
          <a:p>
            <a:endParaRPr lang="en-SG"/>
          </a:p>
        </p:txBody>
      </p:sp>
      <p:sp>
        <p:nvSpPr>
          <p:cNvPr id="10" name="Freeform 10"/>
          <p:cNvSpPr/>
          <p:nvPr/>
        </p:nvSpPr>
        <p:spPr>
          <a:xfrm>
            <a:off x="15917284" y="6746639"/>
            <a:ext cx="1154866" cy="1154866"/>
          </a:xfrm>
          <a:custGeom>
            <a:avLst/>
            <a:gdLst/>
            <a:ahLst/>
            <a:cxnLst/>
            <a:rect l="l" t="t" r="r" b="b"/>
            <a:pathLst>
              <a:path w="1154866" h="1154866">
                <a:moveTo>
                  <a:pt x="0" y="0"/>
                </a:moveTo>
                <a:lnTo>
                  <a:pt x="1154866" y="0"/>
                </a:lnTo>
                <a:lnTo>
                  <a:pt x="1154866" y="1154866"/>
                </a:lnTo>
                <a:lnTo>
                  <a:pt x="0" y="115486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SG"/>
          </a:p>
        </p:txBody>
      </p:sp>
      <p:sp>
        <p:nvSpPr>
          <p:cNvPr id="11" name="TextBox 11"/>
          <p:cNvSpPr txBox="1"/>
          <p:nvPr/>
        </p:nvSpPr>
        <p:spPr>
          <a:xfrm>
            <a:off x="514380" y="1200150"/>
            <a:ext cx="12325670" cy="2117851"/>
          </a:xfrm>
          <a:prstGeom prst="rect">
            <a:avLst/>
          </a:prstGeom>
        </p:spPr>
        <p:txBody>
          <a:bodyPr lIns="0" tIns="0" rIns="0" bIns="0" rtlCol="0" anchor="t">
            <a:spAutoFit/>
          </a:bodyPr>
          <a:lstStyle/>
          <a:p>
            <a:pPr algn="l">
              <a:lnSpc>
                <a:spcPts val="8133"/>
              </a:lnSpc>
            </a:pPr>
            <a:r>
              <a:rPr lang="en-US" sz="8299" b="1">
                <a:solidFill>
                  <a:srgbClr val="F3F6FA"/>
                </a:solidFill>
                <a:latin typeface="League Spartan"/>
                <a:ea typeface="League Spartan"/>
                <a:cs typeface="League Spartan"/>
                <a:sym typeface="League Spartan"/>
              </a:rPr>
              <a:t>Outcomes and Contribution</a:t>
            </a:r>
          </a:p>
        </p:txBody>
      </p:sp>
      <p:sp>
        <p:nvSpPr>
          <p:cNvPr id="12" name="TextBox 12"/>
          <p:cNvSpPr txBox="1"/>
          <p:nvPr/>
        </p:nvSpPr>
        <p:spPr>
          <a:xfrm>
            <a:off x="1028700" y="9359286"/>
            <a:ext cx="3985945" cy="408132"/>
          </a:xfrm>
          <a:prstGeom prst="rect">
            <a:avLst/>
          </a:prstGeom>
        </p:spPr>
        <p:txBody>
          <a:bodyPr lIns="0" tIns="0" rIns="0" bIns="0" rtlCol="0" anchor="t">
            <a:spAutoFit/>
          </a:bodyPr>
          <a:lstStyle/>
          <a:p>
            <a:pPr algn="l">
              <a:lnSpc>
                <a:spcPts val="3229"/>
              </a:lnSpc>
            </a:pPr>
            <a:r>
              <a:rPr lang="en-US" sz="2306">
                <a:solidFill>
                  <a:srgbClr val="FFFFFF"/>
                </a:solidFill>
                <a:latin typeface="Kollektif"/>
                <a:ea typeface="Kollektif"/>
                <a:cs typeface="Kollektif"/>
                <a:sym typeface="Kollektif"/>
              </a:rPr>
              <a:t>25-02-2025</a:t>
            </a:r>
          </a:p>
        </p:txBody>
      </p:sp>
      <p:sp>
        <p:nvSpPr>
          <p:cNvPr id="13" name="TextBox 13"/>
          <p:cNvSpPr txBox="1"/>
          <p:nvPr/>
        </p:nvSpPr>
        <p:spPr>
          <a:xfrm>
            <a:off x="514380" y="4203907"/>
            <a:ext cx="12610850" cy="2566717"/>
          </a:xfrm>
          <a:prstGeom prst="rect">
            <a:avLst/>
          </a:prstGeom>
        </p:spPr>
        <p:txBody>
          <a:bodyPr lIns="0" tIns="0" rIns="0" bIns="0" rtlCol="0" anchor="t">
            <a:spAutoFit/>
          </a:bodyPr>
          <a:lstStyle/>
          <a:p>
            <a:pPr marL="571328" lvl="1" indent="-285664" algn="l">
              <a:lnSpc>
                <a:spcPts val="3440"/>
              </a:lnSpc>
              <a:buFont typeface="Arial"/>
              <a:buChar char="•"/>
            </a:pPr>
            <a:r>
              <a:rPr lang="en-US" sz="2646">
                <a:solidFill>
                  <a:srgbClr val="F3F6FA"/>
                </a:solidFill>
                <a:latin typeface="Playfair Display"/>
                <a:ea typeface="Playfair Display"/>
                <a:cs typeface="Playfair Display"/>
                <a:sym typeface="Playfair Display"/>
              </a:rPr>
              <a:t>Comparison of YOLOv8 and Two-Stream CNN for real-time accident detection.</a:t>
            </a:r>
          </a:p>
          <a:p>
            <a:pPr marL="571328" lvl="1" indent="-285664" algn="l">
              <a:lnSpc>
                <a:spcPts val="3440"/>
              </a:lnSpc>
              <a:buFont typeface="Arial"/>
              <a:buChar char="•"/>
            </a:pPr>
            <a:r>
              <a:rPr lang="en-US" sz="2646">
                <a:solidFill>
                  <a:srgbClr val="F3F6FA"/>
                </a:solidFill>
                <a:latin typeface="Playfair Display"/>
                <a:ea typeface="Playfair Display"/>
                <a:cs typeface="Playfair Display"/>
                <a:sym typeface="Playfair Display"/>
              </a:rPr>
              <a:t>Expected Outcome: Identification of the most effective model based on accuracy and detection speed.</a:t>
            </a:r>
          </a:p>
          <a:p>
            <a:pPr marL="571328" lvl="1" indent="-285664" algn="l">
              <a:lnSpc>
                <a:spcPts val="3440"/>
              </a:lnSpc>
              <a:buFont typeface="Arial"/>
              <a:buChar char="•"/>
            </a:pPr>
            <a:r>
              <a:rPr lang="en-US" sz="2646">
                <a:solidFill>
                  <a:srgbClr val="F3F6FA"/>
                </a:solidFill>
                <a:latin typeface="Playfair Display"/>
                <a:ea typeface="Playfair Display"/>
                <a:cs typeface="Playfair Display"/>
                <a:sym typeface="Playfair Display"/>
              </a:rPr>
              <a:t>Bilateral Filtering applied to improve image quality and optimize model performance.</a:t>
            </a:r>
          </a:p>
          <a:p>
            <a:pPr algn="l">
              <a:lnSpc>
                <a:spcPts val="3440"/>
              </a:lnSpc>
            </a:pPr>
            <a:endParaRPr lang="en-US" sz="2646">
              <a:solidFill>
                <a:srgbClr val="F3F6FA"/>
              </a:solidFill>
              <a:latin typeface="Playfair Display"/>
              <a:ea typeface="Playfair Display"/>
              <a:cs typeface="Playfair Display"/>
              <a:sym typeface="Playfair Display"/>
            </a:endParaRPr>
          </a:p>
        </p:txBody>
      </p:sp>
    </p:spTree>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329753" y="3498507"/>
            <a:ext cx="651116" cy="1367788"/>
            <a:chOff x="0" y="0"/>
            <a:chExt cx="313184" cy="657900"/>
          </a:xfrm>
        </p:grpSpPr>
        <p:sp>
          <p:nvSpPr>
            <p:cNvPr id="3" name="Freeform 3"/>
            <p:cNvSpPr/>
            <p:nvPr/>
          </p:nvSpPr>
          <p:spPr>
            <a:xfrm>
              <a:off x="0" y="0"/>
              <a:ext cx="313184" cy="657900"/>
            </a:xfrm>
            <a:custGeom>
              <a:avLst/>
              <a:gdLst/>
              <a:ahLst/>
              <a:cxnLst/>
              <a:rect l="l" t="t" r="r" b="b"/>
              <a:pathLst>
                <a:path w="313184" h="657900">
                  <a:moveTo>
                    <a:pt x="0" y="0"/>
                  </a:moveTo>
                  <a:lnTo>
                    <a:pt x="313184" y="0"/>
                  </a:lnTo>
                  <a:lnTo>
                    <a:pt x="313184" y="657900"/>
                  </a:lnTo>
                  <a:lnTo>
                    <a:pt x="0" y="657900"/>
                  </a:lnTo>
                  <a:close/>
                </a:path>
              </a:pathLst>
            </a:custGeom>
            <a:solidFill>
              <a:srgbClr val="497183"/>
            </a:solidFill>
          </p:spPr>
          <p:txBody>
            <a:bodyPr/>
            <a:lstStyle/>
            <a:p>
              <a:endParaRPr lang="en-SG"/>
            </a:p>
          </p:txBody>
        </p:sp>
        <p:sp>
          <p:nvSpPr>
            <p:cNvPr id="4" name="TextBox 4"/>
            <p:cNvSpPr txBox="1"/>
            <p:nvPr/>
          </p:nvSpPr>
          <p:spPr>
            <a:xfrm>
              <a:off x="0" y="-47625"/>
              <a:ext cx="313184" cy="705525"/>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1880121"/>
            <a:ext cx="10987128" cy="1089151"/>
          </a:xfrm>
          <a:prstGeom prst="rect">
            <a:avLst/>
          </a:prstGeom>
        </p:spPr>
        <p:txBody>
          <a:bodyPr lIns="0" tIns="0" rIns="0" bIns="0" rtlCol="0" anchor="t">
            <a:spAutoFit/>
          </a:bodyPr>
          <a:lstStyle/>
          <a:p>
            <a:pPr algn="l">
              <a:lnSpc>
                <a:spcPts val="8133"/>
              </a:lnSpc>
            </a:pPr>
            <a:r>
              <a:rPr lang="en-US" sz="8299" b="1">
                <a:solidFill>
                  <a:srgbClr val="0B1320"/>
                </a:solidFill>
                <a:latin typeface="League Spartan"/>
                <a:ea typeface="League Spartan"/>
                <a:cs typeface="League Spartan"/>
                <a:sym typeface="League Spartan"/>
              </a:rPr>
              <a:t>References</a:t>
            </a:r>
          </a:p>
        </p:txBody>
      </p:sp>
      <p:sp>
        <p:nvSpPr>
          <p:cNvPr id="6" name="TextBox 6"/>
          <p:cNvSpPr txBox="1"/>
          <p:nvPr/>
        </p:nvSpPr>
        <p:spPr>
          <a:xfrm>
            <a:off x="139588" y="3872151"/>
            <a:ext cx="683894" cy="764282"/>
          </a:xfrm>
          <a:prstGeom prst="rect">
            <a:avLst/>
          </a:prstGeom>
        </p:spPr>
        <p:txBody>
          <a:bodyPr lIns="0" tIns="0" rIns="0" bIns="0" rtlCol="0" anchor="t">
            <a:spAutoFit/>
          </a:bodyPr>
          <a:lstStyle/>
          <a:p>
            <a:pPr algn="l">
              <a:lnSpc>
                <a:spcPts val="5792"/>
              </a:lnSpc>
            </a:pPr>
            <a:r>
              <a:rPr lang="en-US" sz="5910" b="1">
                <a:solidFill>
                  <a:srgbClr val="F3F6FA"/>
                </a:solidFill>
                <a:latin typeface="League Spartan"/>
                <a:ea typeface="League Spartan"/>
                <a:cs typeface="League Spartan"/>
                <a:sym typeface="League Spartan"/>
              </a:rPr>
              <a:t>1.</a:t>
            </a:r>
          </a:p>
        </p:txBody>
      </p:sp>
      <p:grpSp>
        <p:nvGrpSpPr>
          <p:cNvPr id="7" name="Group 7"/>
          <p:cNvGrpSpPr/>
          <p:nvPr/>
        </p:nvGrpSpPr>
        <p:grpSpPr>
          <a:xfrm rot="-5400000">
            <a:off x="-656412" y="4139741"/>
            <a:ext cx="708684" cy="2103295"/>
            <a:chOff x="0" y="0"/>
            <a:chExt cx="328803" cy="975850"/>
          </a:xfrm>
        </p:grpSpPr>
        <p:sp>
          <p:nvSpPr>
            <p:cNvPr id="8" name="Freeform 8"/>
            <p:cNvSpPr/>
            <p:nvPr/>
          </p:nvSpPr>
          <p:spPr>
            <a:xfrm>
              <a:off x="0" y="0"/>
              <a:ext cx="328803" cy="975850"/>
            </a:xfrm>
            <a:custGeom>
              <a:avLst/>
              <a:gdLst/>
              <a:ahLst/>
              <a:cxnLst/>
              <a:rect l="l" t="t" r="r" b="b"/>
              <a:pathLst>
                <a:path w="328803" h="975850">
                  <a:moveTo>
                    <a:pt x="0" y="0"/>
                  </a:moveTo>
                  <a:lnTo>
                    <a:pt x="328803" y="0"/>
                  </a:lnTo>
                  <a:lnTo>
                    <a:pt x="328803" y="975850"/>
                  </a:lnTo>
                  <a:lnTo>
                    <a:pt x="0" y="975850"/>
                  </a:lnTo>
                  <a:close/>
                </a:path>
              </a:pathLst>
            </a:custGeom>
            <a:solidFill>
              <a:srgbClr val="497183"/>
            </a:solidFill>
          </p:spPr>
          <p:txBody>
            <a:bodyPr/>
            <a:lstStyle/>
            <a:p>
              <a:endParaRPr lang="en-SG"/>
            </a:p>
          </p:txBody>
        </p:sp>
        <p:sp>
          <p:nvSpPr>
            <p:cNvPr id="9" name="TextBox 9"/>
            <p:cNvSpPr txBox="1"/>
            <p:nvPr/>
          </p:nvSpPr>
          <p:spPr>
            <a:xfrm>
              <a:off x="0" y="-47625"/>
              <a:ext cx="328803" cy="1023475"/>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628" y="4800513"/>
            <a:ext cx="812300" cy="1572241"/>
          </a:xfrm>
          <a:prstGeom prst="rect">
            <a:avLst/>
          </a:prstGeom>
        </p:spPr>
        <p:txBody>
          <a:bodyPr lIns="0" tIns="0" rIns="0" bIns="0" rtlCol="0" anchor="t">
            <a:spAutoFit/>
          </a:bodyPr>
          <a:lstStyle/>
          <a:p>
            <a:pPr algn="l">
              <a:lnSpc>
                <a:spcPts val="6008"/>
              </a:lnSpc>
            </a:pPr>
            <a:r>
              <a:rPr lang="en-US" sz="6130" b="1">
                <a:solidFill>
                  <a:srgbClr val="F3F6FA"/>
                </a:solidFill>
                <a:latin typeface="League Spartan"/>
                <a:ea typeface="League Spartan"/>
                <a:cs typeface="League Spartan"/>
                <a:sym typeface="League Spartan"/>
              </a:rPr>
              <a:t>2.</a:t>
            </a:r>
          </a:p>
        </p:txBody>
      </p:sp>
      <p:sp>
        <p:nvSpPr>
          <p:cNvPr id="11" name="TextBox 11"/>
          <p:cNvSpPr txBox="1"/>
          <p:nvPr/>
        </p:nvSpPr>
        <p:spPr>
          <a:xfrm>
            <a:off x="839376" y="9591726"/>
            <a:ext cx="3985945" cy="408132"/>
          </a:xfrm>
          <a:prstGeom prst="rect">
            <a:avLst/>
          </a:prstGeom>
        </p:spPr>
        <p:txBody>
          <a:bodyPr lIns="0" tIns="0" rIns="0" bIns="0" rtlCol="0" anchor="t">
            <a:spAutoFit/>
          </a:bodyPr>
          <a:lstStyle/>
          <a:p>
            <a:pPr algn="l">
              <a:lnSpc>
                <a:spcPts val="3229"/>
              </a:lnSpc>
            </a:pPr>
            <a:r>
              <a:rPr lang="en-US" sz="2306">
                <a:solidFill>
                  <a:srgbClr val="0B1320"/>
                </a:solidFill>
                <a:latin typeface="Kollektif"/>
                <a:ea typeface="Kollektif"/>
                <a:cs typeface="Kollektif"/>
                <a:sym typeface="Kollektif"/>
              </a:rPr>
              <a:t>25-02-2025</a:t>
            </a:r>
          </a:p>
        </p:txBody>
      </p:sp>
      <p:sp>
        <p:nvSpPr>
          <p:cNvPr id="12" name="Freeform 12"/>
          <p:cNvSpPr/>
          <p:nvPr/>
        </p:nvSpPr>
        <p:spPr>
          <a:xfrm rot="-4007976" flipH="1" flipV="1">
            <a:off x="5595920" y="6813080"/>
            <a:ext cx="4754343" cy="7494363"/>
          </a:xfrm>
          <a:custGeom>
            <a:avLst/>
            <a:gdLst/>
            <a:ahLst/>
            <a:cxnLst/>
            <a:rect l="l" t="t" r="r" b="b"/>
            <a:pathLst>
              <a:path w="4754343" h="7494363">
                <a:moveTo>
                  <a:pt x="4754344" y="7494363"/>
                </a:moveTo>
                <a:lnTo>
                  <a:pt x="0" y="7494363"/>
                </a:lnTo>
                <a:lnTo>
                  <a:pt x="0" y="0"/>
                </a:lnTo>
                <a:lnTo>
                  <a:pt x="4754344" y="0"/>
                </a:lnTo>
                <a:lnTo>
                  <a:pt x="4754344" y="7494363"/>
                </a:lnTo>
                <a:close/>
              </a:path>
            </a:pathLst>
          </a:custGeom>
          <a:blipFill>
            <a:blip r:embed="rId2">
              <a:alphaModFix amt="64000"/>
              <a:extLst>
                <a:ext uri="{96DAC541-7B7A-43D3-8B79-37D633B846F1}">
                  <asvg:svgBlip xmlns:asvg="http://schemas.microsoft.com/office/drawing/2016/SVG/main" r:embed="rId3"/>
                </a:ext>
              </a:extLst>
            </a:blip>
            <a:stretch>
              <a:fillRect r="-61881"/>
            </a:stretch>
          </a:blipFill>
        </p:spPr>
        <p:txBody>
          <a:bodyPr/>
          <a:lstStyle/>
          <a:p>
            <a:endParaRPr lang="en-SG"/>
          </a:p>
        </p:txBody>
      </p:sp>
      <p:sp>
        <p:nvSpPr>
          <p:cNvPr id="13" name="TextBox 13"/>
          <p:cNvSpPr txBox="1"/>
          <p:nvPr/>
        </p:nvSpPr>
        <p:spPr>
          <a:xfrm>
            <a:off x="895373" y="5925953"/>
            <a:ext cx="15679789" cy="57594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DM Serif Display"/>
                <a:ea typeface="DM Serif Display"/>
                <a:cs typeface="DM Serif Display"/>
                <a:sym typeface="DM Serif Display"/>
              </a:rPr>
              <a:t>Rajesh, G., Benny, A. R., Abraham, H. A., &amp; John, N. P. (2020). A Deep Learning Based Accident Detection System. IEEE International Conference on Communication and Signal Processing.</a:t>
            </a:r>
          </a:p>
        </p:txBody>
      </p:sp>
      <p:grpSp>
        <p:nvGrpSpPr>
          <p:cNvPr id="14" name="Group 14"/>
          <p:cNvGrpSpPr/>
          <p:nvPr/>
        </p:nvGrpSpPr>
        <p:grpSpPr>
          <a:xfrm rot="-5400000">
            <a:off x="-574752" y="5513182"/>
            <a:ext cx="763521" cy="1646213"/>
            <a:chOff x="0" y="0"/>
            <a:chExt cx="328803" cy="708926"/>
          </a:xfrm>
        </p:grpSpPr>
        <p:sp>
          <p:nvSpPr>
            <p:cNvPr id="15" name="Freeform 15"/>
            <p:cNvSpPr/>
            <p:nvPr/>
          </p:nvSpPr>
          <p:spPr>
            <a:xfrm>
              <a:off x="0" y="0"/>
              <a:ext cx="328803" cy="708926"/>
            </a:xfrm>
            <a:custGeom>
              <a:avLst/>
              <a:gdLst/>
              <a:ahLst/>
              <a:cxnLst/>
              <a:rect l="l" t="t" r="r" b="b"/>
              <a:pathLst>
                <a:path w="328803" h="708926">
                  <a:moveTo>
                    <a:pt x="0" y="0"/>
                  </a:moveTo>
                  <a:lnTo>
                    <a:pt x="328803" y="0"/>
                  </a:lnTo>
                  <a:lnTo>
                    <a:pt x="328803" y="708926"/>
                  </a:lnTo>
                  <a:lnTo>
                    <a:pt x="0" y="708926"/>
                  </a:lnTo>
                  <a:close/>
                </a:path>
              </a:pathLst>
            </a:custGeom>
            <a:solidFill>
              <a:srgbClr val="497183"/>
            </a:solidFill>
          </p:spPr>
          <p:txBody>
            <a:bodyPr/>
            <a:lstStyle/>
            <a:p>
              <a:endParaRPr lang="en-SG"/>
            </a:p>
          </p:txBody>
        </p:sp>
        <p:sp>
          <p:nvSpPr>
            <p:cNvPr id="16" name="TextBox 16"/>
            <p:cNvSpPr txBox="1"/>
            <p:nvPr/>
          </p:nvSpPr>
          <p:spPr>
            <a:xfrm>
              <a:off x="0" y="-47625"/>
              <a:ext cx="328803" cy="756551"/>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43925" y="5924637"/>
            <a:ext cx="635774" cy="1684428"/>
          </a:xfrm>
          <a:prstGeom prst="rect">
            <a:avLst/>
          </a:prstGeom>
        </p:spPr>
        <p:txBody>
          <a:bodyPr lIns="0" tIns="0" rIns="0" bIns="0" rtlCol="0" anchor="t">
            <a:spAutoFit/>
          </a:bodyPr>
          <a:lstStyle/>
          <a:p>
            <a:pPr algn="l">
              <a:lnSpc>
                <a:spcPts val="6473"/>
              </a:lnSpc>
            </a:pPr>
            <a:r>
              <a:rPr lang="en-US" sz="6605" b="1">
                <a:solidFill>
                  <a:srgbClr val="F3F6FA"/>
                </a:solidFill>
                <a:latin typeface="League Spartan"/>
                <a:ea typeface="League Spartan"/>
                <a:cs typeface="League Spartan"/>
                <a:sym typeface="League Spartan"/>
              </a:rPr>
              <a:t>3.</a:t>
            </a:r>
          </a:p>
        </p:txBody>
      </p:sp>
      <p:grpSp>
        <p:nvGrpSpPr>
          <p:cNvPr id="18" name="Group 18"/>
          <p:cNvGrpSpPr/>
          <p:nvPr/>
        </p:nvGrpSpPr>
        <p:grpSpPr>
          <a:xfrm rot="-5400000">
            <a:off x="-547803" y="7069396"/>
            <a:ext cx="876443" cy="1395340"/>
            <a:chOff x="0" y="0"/>
            <a:chExt cx="328803" cy="523470"/>
          </a:xfrm>
        </p:grpSpPr>
        <p:sp>
          <p:nvSpPr>
            <p:cNvPr id="19" name="Freeform 19"/>
            <p:cNvSpPr/>
            <p:nvPr/>
          </p:nvSpPr>
          <p:spPr>
            <a:xfrm>
              <a:off x="0" y="0"/>
              <a:ext cx="328803" cy="523470"/>
            </a:xfrm>
            <a:custGeom>
              <a:avLst/>
              <a:gdLst/>
              <a:ahLst/>
              <a:cxnLst/>
              <a:rect l="l" t="t" r="r" b="b"/>
              <a:pathLst>
                <a:path w="328803" h="523470">
                  <a:moveTo>
                    <a:pt x="0" y="0"/>
                  </a:moveTo>
                  <a:lnTo>
                    <a:pt x="328803" y="0"/>
                  </a:lnTo>
                  <a:lnTo>
                    <a:pt x="328803" y="523470"/>
                  </a:lnTo>
                  <a:lnTo>
                    <a:pt x="0" y="523470"/>
                  </a:lnTo>
                  <a:close/>
                </a:path>
              </a:pathLst>
            </a:custGeom>
            <a:solidFill>
              <a:srgbClr val="497183"/>
            </a:solidFill>
          </p:spPr>
          <p:txBody>
            <a:bodyPr/>
            <a:lstStyle/>
            <a:p>
              <a:endParaRPr lang="en-SG"/>
            </a:p>
          </p:txBody>
        </p:sp>
        <p:sp>
          <p:nvSpPr>
            <p:cNvPr id="20" name="TextBox 20"/>
            <p:cNvSpPr txBox="1"/>
            <p:nvPr/>
          </p:nvSpPr>
          <p:spPr>
            <a:xfrm>
              <a:off x="0" y="-47625"/>
              <a:ext cx="328803" cy="571095"/>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91230" y="7292452"/>
            <a:ext cx="538886" cy="1935631"/>
          </a:xfrm>
          <a:prstGeom prst="rect">
            <a:avLst/>
          </a:prstGeom>
        </p:spPr>
        <p:txBody>
          <a:bodyPr lIns="0" tIns="0" rIns="0" bIns="0" rtlCol="0" anchor="t">
            <a:spAutoFit/>
          </a:bodyPr>
          <a:lstStyle/>
          <a:p>
            <a:pPr algn="l">
              <a:lnSpc>
                <a:spcPts val="7430"/>
              </a:lnSpc>
            </a:pPr>
            <a:r>
              <a:rPr lang="en-US" sz="7582" b="1">
                <a:solidFill>
                  <a:srgbClr val="F3F6FA"/>
                </a:solidFill>
                <a:latin typeface="League Spartan"/>
                <a:ea typeface="League Spartan"/>
                <a:cs typeface="League Spartan"/>
                <a:sym typeface="League Spartan"/>
              </a:rPr>
              <a:t>4.</a:t>
            </a:r>
          </a:p>
        </p:txBody>
      </p:sp>
      <p:sp>
        <p:nvSpPr>
          <p:cNvPr id="22" name="TextBox 22"/>
          <p:cNvSpPr txBox="1"/>
          <p:nvPr/>
        </p:nvSpPr>
        <p:spPr>
          <a:xfrm>
            <a:off x="1028700" y="4841240"/>
            <a:ext cx="16463636" cy="57594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DM Serif Display"/>
                <a:ea typeface="DM Serif Display"/>
                <a:cs typeface="DM Serif Display"/>
                <a:sym typeface="DM Serif Display"/>
              </a:rPr>
              <a:t>Darokar, A., Talware, A., Jadhav, A., Guntiwar, D., Dandhare, S., &amp; Dandekar, D. (2023). Accident Detection System Using YOLOv8 and CNN Algorithms. International Research Journal of Modernization in Engineering Technology and Science.</a:t>
            </a:r>
          </a:p>
        </p:txBody>
      </p:sp>
      <p:sp>
        <p:nvSpPr>
          <p:cNvPr id="23" name="TextBox 23"/>
          <p:cNvSpPr txBox="1"/>
          <p:nvPr/>
        </p:nvSpPr>
        <p:spPr>
          <a:xfrm>
            <a:off x="1028700" y="7580490"/>
            <a:ext cx="17120372" cy="280670"/>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DM Serif Display"/>
                <a:ea typeface="DM Serif Display"/>
                <a:cs typeface="DM Serif Display"/>
                <a:sym typeface="DM Serif Display"/>
              </a:rPr>
              <a:t>Ghosh, S., Sunny, S. J., &amp; Roney, R. (2019). Accident Detection Using Convolutional Neural Networks. IEEE.</a:t>
            </a:r>
          </a:p>
        </p:txBody>
      </p:sp>
      <p:sp>
        <p:nvSpPr>
          <p:cNvPr id="24" name="TextBox 24"/>
          <p:cNvSpPr txBox="1"/>
          <p:nvPr/>
        </p:nvSpPr>
        <p:spPr>
          <a:xfrm>
            <a:off x="1028700" y="3880141"/>
            <a:ext cx="15224159" cy="575945"/>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DM Serif Display"/>
                <a:ea typeface="DM Serif Display"/>
                <a:cs typeface="DM Serif Display"/>
                <a:sym typeface="DM Serif Display"/>
              </a:rPr>
              <a:t>Nusari, A. N., Ba Alawi, A. E., Bozkurt, F., &amp; Özbek, İ. Y. (2024). Comparison of YOLO Algorithms for Vehicle Accident Detection and Classification. International Conference on Emerging Smart Technologies and Applications.</a:t>
            </a:r>
          </a:p>
        </p:txBody>
      </p:sp>
      <p:sp>
        <p:nvSpPr>
          <p:cNvPr id="25" name="TextBox 25"/>
          <p:cNvSpPr txBox="1"/>
          <p:nvPr/>
        </p:nvSpPr>
        <p:spPr>
          <a:xfrm>
            <a:off x="1028700" y="8756823"/>
            <a:ext cx="17120372" cy="280670"/>
          </a:xfrm>
          <a:prstGeom prst="rect">
            <a:avLst/>
          </a:prstGeom>
        </p:spPr>
        <p:txBody>
          <a:bodyPr lIns="0" tIns="0" rIns="0" bIns="0" rtlCol="0" anchor="t">
            <a:spAutoFit/>
          </a:bodyPr>
          <a:lstStyle/>
          <a:p>
            <a:pPr algn="l">
              <a:lnSpc>
                <a:spcPts val="2380"/>
              </a:lnSpc>
              <a:spcBef>
                <a:spcPct val="0"/>
              </a:spcBef>
            </a:pPr>
            <a:r>
              <a:rPr lang="en-US" sz="1700">
                <a:solidFill>
                  <a:srgbClr val="000000"/>
                </a:solidFill>
                <a:latin typeface="DM Serif Display"/>
                <a:ea typeface="DM Serif Display"/>
                <a:cs typeface="DM Serif Display"/>
                <a:sym typeface="DM Serif Display"/>
              </a:rPr>
              <a:t>Deb, R., &amp; Liew, A. W.-C. (2019). Noisy Values Detection and Correction of Traffic Accident Data. Information Sciences.</a:t>
            </a:r>
          </a:p>
        </p:txBody>
      </p:sp>
      <p:grpSp>
        <p:nvGrpSpPr>
          <p:cNvPr id="26" name="Group 26"/>
          <p:cNvGrpSpPr/>
          <p:nvPr/>
        </p:nvGrpSpPr>
        <p:grpSpPr>
          <a:xfrm rot="-5400000">
            <a:off x="-257861" y="8222289"/>
            <a:ext cx="651116" cy="1367788"/>
            <a:chOff x="0" y="0"/>
            <a:chExt cx="313184" cy="657900"/>
          </a:xfrm>
        </p:grpSpPr>
        <p:sp>
          <p:nvSpPr>
            <p:cNvPr id="27" name="Freeform 27"/>
            <p:cNvSpPr/>
            <p:nvPr/>
          </p:nvSpPr>
          <p:spPr>
            <a:xfrm>
              <a:off x="0" y="0"/>
              <a:ext cx="313184" cy="657900"/>
            </a:xfrm>
            <a:custGeom>
              <a:avLst/>
              <a:gdLst/>
              <a:ahLst/>
              <a:cxnLst/>
              <a:rect l="l" t="t" r="r" b="b"/>
              <a:pathLst>
                <a:path w="313184" h="657900">
                  <a:moveTo>
                    <a:pt x="0" y="0"/>
                  </a:moveTo>
                  <a:lnTo>
                    <a:pt x="313184" y="0"/>
                  </a:lnTo>
                  <a:lnTo>
                    <a:pt x="313184" y="657900"/>
                  </a:lnTo>
                  <a:lnTo>
                    <a:pt x="0" y="657900"/>
                  </a:lnTo>
                  <a:close/>
                </a:path>
              </a:pathLst>
            </a:custGeom>
            <a:solidFill>
              <a:srgbClr val="497183"/>
            </a:solidFill>
          </p:spPr>
          <p:txBody>
            <a:bodyPr/>
            <a:lstStyle/>
            <a:p>
              <a:endParaRPr lang="en-SG"/>
            </a:p>
          </p:txBody>
        </p:sp>
        <p:sp>
          <p:nvSpPr>
            <p:cNvPr id="28" name="TextBox 28"/>
            <p:cNvSpPr txBox="1"/>
            <p:nvPr/>
          </p:nvSpPr>
          <p:spPr>
            <a:xfrm>
              <a:off x="0" y="-47625"/>
              <a:ext cx="313184" cy="705525"/>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211479" y="8595932"/>
            <a:ext cx="683894" cy="764376"/>
          </a:xfrm>
          <a:prstGeom prst="rect">
            <a:avLst/>
          </a:prstGeom>
        </p:spPr>
        <p:txBody>
          <a:bodyPr lIns="0" tIns="0" rIns="0" bIns="0" rtlCol="0" anchor="t">
            <a:spAutoFit/>
          </a:bodyPr>
          <a:lstStyle/>
          <a:p>
            <a:pPr algn="l">
              <a:lnSpc>
                <a:spcPts val="5792"/>
              </a:lnSpc>
            </a:pPr>
            <a:r>
              <a:rPr lang="en-US" sz="5910" b="1">
                <a:solidFill>
                  <a:srgbClr val="F3F6FA"/>
                </a:solidFill>
                <a:latin typeface="League Spartan"/>
                <a:ea typeface="League Spartan"/>
                <a:cs typeface="League Spartan"/>
                <a:sym typeface="League Spartan"/>
              </a:rPr>
              <a:t>5</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6FA"/>
        </a:solidFill>
        <a:effectLst/>
      </p:bgPr>
    </p:bg>
    <p:spTree>
      <p:nvGrpSpPr>
        <p:cNvPr id="1" name=""/>
        <p:cNvGrpSpPr/>
        <p:nvPr/>
      </p:nvGrpSpPr>
      <p:grpSpPr>
        <a:xfrm>
          <a:off x="0" y="0"/>
          <a:ext cx="0" cy="0"/>
          <a:chOff x="0" y="0"/>
          <a:chExt cx="0" cy="0"/>
        </a:xfrm>
      </p:grpSpPr>
      <p:sp>
        <p:nvSpPr>
          <p:cNvPr id="2" name="Freeform 2"/>
          <p:cNvSpPr/>
          <p:nvPr/>
        </p:nvSpPr>
        <p:spPr>
          <a:xfrm rot="5400000" flipV="1">
            <a:off x="8996924" y="-1810932"/>
            <a:ext cx="11205779" cy="10911627"/>
          </a:xfrm>
          <a:custGeom>
            <a:avLst/>
            <a:gdLst/>
            <a:ahLst/>
            <a:cxnLst/>
            <a:rect l="l" t="t" r="r" b="b"/>
            <a:pathLst>
              <a:path w="11205779" h="10911627">
                <a:moveTo>
                  <a:pt x="0" y="10911627"/>
                </a:moveTo>
                <a:lnTo>
                  <a:pt x="11205779" y="10911627"/>
                </a:lnTo>
                <a:lnTo>
                  <a:pt x="11205779" y="0"/>
                </a:lnTo>
                <a:lnTo>
                  <a:pt x="0" y="0"/>
                </a:lnTo>
                <a:lnTo>
                  <a:pt x="0" y="10911627"/>
                </a:lnTo>
                <a:close/>
              </a:path>
            </a:pathLst>
          </a:custGeom>
          <a:blipFill>
            <a:blip r:embed="rId2">
              <a:alphaModFix amt="69000"/>
              <a:extLst>
                <a:ext uri="{96DAC541-7B7A-43D3-8B79-37D633B846F1}">
                  <asvg:svgBlip xmlns:asvg="http://schemas.microsoft.com/office/drawing/2016/SVG/main" r:embed="rId3"/>
                </a:ext>
              </a:extLst>
            </a:blip>
            <a:stretch>
              <a:fillRect/>
            </a:stretch>
          </a:blipFill>
        </p:spPr>
        <p:txBody>
          <a:bodyPr/>
          <a:lstStyle/>
          <a:p>
            <a:endParaRPr lang="en-SG"/>
          </a:p>
        </p:txBody>
      </p:sp>
      <p:grpSp>
        <p:nvGrpSpPr>
          <p:cNvPr id="3" name="Group 3"/>
          <p:cNvGrpSpPr/>
          <p:nvPr/>
        </p:nvGrpSpPr>
        <p:grpSpPr>
          <a:xfrm rot="-1803481">
            <a:off x="-1558769" y="-2721739"/>
            <a:ext cx="7821074" cy="19539727"/>
            <a:chOff x="0" y="0"/>
            <a:chExt cx="2059871" cy="5146266"/>
          </a:xfrm>
        </p:grpSpPr>
        <p:sp>
          <p:nvSpPr>
            <p:cNvPr id="4" name="Freeform 4"/>
            <p:cNvSpPr/>
            <p:nvPr/>
          </p:nvSpPr>
          <p:spPr>
            <a:xfrm>
              <a:off x="0" y="0"/>
              <a:ext cx="2059872" cy="5146266"/>
            </a:xfrm>
            <a:custGeom>
              <a:avLst/>
              <a:gdLst/>
              <a:ahLst/>
              <a:cxnLst/>
              <a:rect l="l" t="t" r="r" b="b"/>
              <a:pathLst>
                <a:path w="2059872" h="5146266">
                  <a:moveTo>
                    <a:pt x="0" y="0"/>
                  </a:moveTo>
                  <a:lnTo>
                    <a:pt x="2059872" y="0"/>
                  </a:lnTo>
                  <a:lnTo>
                    <a:pt x="2059872" y="5146266"/>
                  </a:lnTo>
                  <a:lnTo>
                    <a:pt x="0" y="5146266"/>
                  </a:lnTo>
                  <a:close/>
                </a:path>
              </a:pathLst>
            </a:custGeom>
            <a:solidFill>
              <a:srgbClr val="0B1320"/>
            </a:solidFill>
          </p:spPr>
          <p:txBody>
            <a:bodyPr/>
            <a:lstStyle/>
            <a:p>
              <a:endParaRPr lang="en-SG"/>
            </a:p>
          </p:txBody>
        </p:sp>
        <p:sp>
          <p:nvSpPr>
            <p:cNvPr id="5" name="TextBox 5"/>
            <p:cNvSpPr txBox="1"/>
            <p:nvPr/>
          </p:nvSpPr>
          <p:spPr>
            <a:xfrm>
              <a:off x="0" y="-47625"/>
              <a:ext cx="2059871" cy="519389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425876">
            <a:off x="7248318" y="8786475"/>
            <a:ext cx="12022786" cy="2391367"/>
            <a:chOff x="0" y="0"/>
            <a:chExt cx="3166495" cy="629825"/>
          </a:xfrm>
        </p:grpSpPr>
        <p:sp>
          <p:nvSpPr>
            <p:cNvPr id="7" name="Freeform 7"/>
            <p:cNvSpPr/>
            <p:nvPr/>
          </p:nvSpPr>
          <p:spPr>
            <a:xfrm>
              <a:off x="0" y="0"/>
              <a:ext cx="3166495" cy="629825"/>
            </a:xfrm>
            <a:custGeom>
              <a:avLst/>
              <a:gdLst/>
              <a:ahLst/>
              <a:cxnLst/>
              <a:rect l="l" t="t" r="r" b="b"/>
              <a:pathLst>
                <a:path w="3166495" h="629825">
                  <a:moveTo>
                    <a:pt x="0" y="0"/>
                  </a:moveTo>
                  <a:lnTo>
                    <a:pt x="3166495" y="0"/>
                  </a:lnTo>
                  <a:lnTo>
                    <a:pt x="3166495" y="629825"/>
                  </a:lnTo>
                  <a:lnTo>
                    <a:pt x="0" y="629825"/>
                  </a:lnTo>
                  <a:close/>
                </a:path>
              </a:pathLst>
            </a:custGeom>
            <a:solidFill>
              <a:srgbClr val="497183"/>
            </a:solidFill>
          </p:spPr>
          <p:txBody>
            <a:bodyPr/>
            <a:lstStyle/>
            <a:p>
              <a:endParaRPr lang="en-SG"/>
            </a:p>
          </p:txBody>
        </p:sp>
        <p:sp>
          <p:nvSpPr>
            <p:cNvPr id="8" name="TextBox 8"/>
            <p:cNvSpPr txBox="1"/>
            <p:nvPr/>
          </p:nvSpPr>
          <p:spPr>
            <a:xfrm>
              <a:off x="0" y="-47625"/>
              <a:ext cx="3166495" cy="67745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289240" flipH="1">
            <a:off x="-2960106" y="-896765"/>
            <a:ext cx="6656198" cy="5258396"/>
          </a:xfrm>
          <a:custGeom>
            <a:avLst/>
            <a:gdLst/>
            <a:ahLst/>
            <a:cxnLst/>
            <a:rect l="l" t="t" r="r" b="b"/>
            <a:pathLst>
              <a:path w="6656198" h="5258396">
                <a:moveTo>
                  <a:pt x="6656198" y="0"/>
                </a:moveTo>
                <a:lnTo>
                  <a:pt x="0" y="0"/>
                </a:lnTo>
                <a:lnTo>
                  <a:pt x="0" y="5258397"/>
                </a:lnTo>
                <a:lnTo>
                  <a:pt x="6656198" y="5258397"/>
                </a:lnTo>
                <a:lnTo>
                  <a:pt x="6656198" y="0"/>
                </a:lnTo>
                <a:close/>
              </a:path>
            </a:pathLst>
          </a:custGeom>
          <a:blipFill>
            <a:blip r:embed="rId4">
              <a:alphaModFix amt="35000"/>
              <a:extLst>
                <a:ext uri="{96DAC541-7B7A-43D3-8B79-37D633B846F1}">
                  <asvg:svgBlip xmlns:asvg="http://schemas.microsoft.com/office/drawing/2016/SVG/main" r:embed="rId5"/>
                </a:ext>
              </a:extLst>
            </a:blip>
            <a:stretch>
              <a:fillRect/>
            </a:stretch>
          </a:blipFill>
        </p:spPr>
        <p:txBody>
          <a:bodyPr/>
          <a:lstStyle/>
          <a:p>
            <a:endParaRPr lang="en-SG"/>
          </a:p>
        </p:txBody>
      </p:sp>
      <p:sp>
        <p:nvSpPr>
          <p:cNvPr id="10" name="TextBox 10"/>
          <p:cNvSpPr txBox="1"/>
          <p:nvPr/>
        </p:nvSpPr>
        <p:spPr>
          <a:xfrm>
            <a:off x="8728844" y="4250254"/>
            <a:ext cx="8530456" cy="1809540"/>
          </a:xfrm>
          <a:prstGeom prst="rect">
            <a:avLst/>
          </a:prstGeom>
        </p:spPr>
        <p:txBody>
          <a:bodyPr lIns="0" tIns="0" rIns="0" bIns="0" rtlCol="0" anchor="t">
            <a:spAutoFit/>
          </a:bodyPr>
          <a:lstStyle/>
          <a:p>
            <a:pPr algn="r">
              <a:lnSpc>
                <a:spcPts val="14706"/>
              </a:lnSpc>
            </a:pPr>
            <a:r>
              <a:rPr lang="en-US" sz="10504" b="1">
                <a:solidFill>
                  <a:srgbClr val="0B1320"/>
                </a:solidFill>
                <a:latin typeface="League Spartan"/>
                <a:ea typeface="League Spartan"/>
                <a:cs typeface="League Spartan"/>
                <a:sym typeface="League Spartan"/>
              </a:rPr>
              <a:t>Thank You</a:t>
            </a:r>
          </a:p>
        </p:txBody>
      </p:sp>
      <p:sp>
        <p:nvSpPr>
          <p:cNvPr id="11" name="TextBox 11"/>
          <p:cNvSpPr txBox="1"/>
          <p:nvPr/>
        </p:nvSpPr>
        <p:spPr>
          <a:xfrm>
            <a:off x="10102874" y="5935970"/>
            <a:ext cx="7156426" cy="1038129"/>
          </a:xfrm>
          <a:prstGeom prst="rect">
            <a:avLst/>
          </a:prstGeom>
        </p:spPr>
        <p:txBody>
          <a:bodyPr lIns="0" tIns="0" rIns="0" bIns="0" rtlCol="0" anchor="t">
            <a:spAutoFit/>
          </a:bodyPr>
          <a:lstStyle/>
          <a:p>
            <a:pPr algn="r">
              <a:lnSpc>
                <a:spcPts val="8403"/>
              </a:lnSpc>
            </a:pPr>
            <a:r>
              <a:rPr lang="en-US" sz="6002">
                <a:solidFill>
                  <a:srgbClr val="1C3F60"/>
                </a:solidFill>
                <a:latin typeface="Kollektif"/>
                <a:ea typeface="Kollektif"/>
                <a:cs typeface="Kollektif"/>
                <a:sym typeface="Kollektif"/>
              </a:rPr>
              <a:t>For Your Attention</a:t>
            </a:r>
          </a:p>
        </p:txBody>
      </p:sp>
      <p:sp>
        <p:nvSpPr>
          <p:cNvPr id="12" name="TextBox 12"/>
          <p:cNvSpPr txBox="1"/>
          <p:nvPr/>
        </p:nvSpPr>
        <p:spPr>
          <a:xfrm>
            <a:off x="1022587" y="8560362"/>
            <a:ext cx="6949850" cy="697938"/>
          </a:xfrm>
          <a:prstGeom prst="rect">
            <a:avLst/>
          </a:prstGeom>
        </p:spPr>
        <p:txBody>
          <a:bodyPr lIns="0" tIns="0" rIns="0" bIns="0" rtlCol="0" anchor="t">
            <a:spAutoFit/>
          </a:bodyPr>
          <a:lstStyle/>
          <a:p>
            <a:pPr algn="l">
              <a:lnSpc>
                <a:spcPts val="5630"/>
              </a:lnSpc>
            </a:pPr>
            <a:r>
              <a:rPr lang="en-US" sz="4022">
                <a:solidFill>
                  <a:srgbClr val="F3F6FA"/>
                </a:solidFill>
                <a:latin typeface="Kollektif"/>
                <a:ea typeface="Kollektif"/>
                <a:cs typeface="Kollektif"/>
                <a:sym typeface="Kollektif"/>
              </a:rPr>
              <a:t>25-02-2025</a:t>
            </a:r>
          </a:p>
        </p:txBody>
      </p:sp>
      <p:sp>
        <p:nvSpPr>
          <p:cNvPr id="13" name="AutoShape 13"/>
          <p:cNvSpPr/>
          <p:nvPr/>
        </p:nvSpPr>
        <p:spPr>
          <a:xfrm rot="-2168403">
            <a:off x="2758997" y="9336932"/>
            <a:ext cx="5768425" cy="0"/>
          </a:xfrm>
          <a:prstGeom prst="line">
            <a:avLst/>
          </a:prstGeom>
          <a:ln w="38100" cap="flat">
            <a:solidFill>
              <a:srgbClr val="F3F6FA"/>
            </a:solidFill>
            <a:prstDash val="solid"/>
            <a:headEnd type="none" w="sm" len="sm"/>
            <a:tailEnd type="none" w="sm" len="sm"/>
          </a:ln>
        </p:spPr>
        <p:txBody>
          <a:bodyPr/>
          <a:lstStyle/>
          <a:p>
            <a:endParaRPr lang="en-SG"/>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1987</Words>
  <Application>Microsoft Office PowerPoint</Application>
  <PresentationFormat>Custom</PresentationFormat>
  <Paragraphs>219</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Playfair Display</vt:lpstr>
      <vt:lpstr>Calibri</vt:lpstr>
      <vt:lpstr>Kollektif Bold</vt:lpstr>
      <vt:lpstr>Canva Sans Bold</vt:lpstr>
      <vt:lpstr>DM Serif Display</vt:lpstr>
      <vt:lpstr>Kollektif</vt:lpstr>
      <vt:lpstr>League Spartan</vt:lpstr>
      <vt:lpstr>Canva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Mid</dc:title>
  <cp:lastModifiedBy>HP</cp:lastModifiedBy>
  <cp:revision>2</cp:revision>
  <dcterms:created xsi:type="dcterms:W3CDTF">2006-08-16T00:00:00Z</dcterms:created>
  <dcterms:modified xsi:type="dcterms:W3CDTF">2025-02-25T07:01:00Z</dcterms:modified>
  <dc:identifier>DAGgAAUjYGY</dc:identifier>
</cp:coreProperties>
</file>